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DevForge. In a few minutes we show that AI can do more than write code: it can run the whole development lifecycle, prove the result works, prove it is safe, and still leave the release decision to a human. It was built with IBM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Developers spend a lot of time coordinating requirements, tests, debugging, security review and release. AI code generators skip most of that: you get code, but no proof it works, no security check, and no owner of the release decision. That is the gap DevForge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DevForge is a state machine. Each stage is done by a specialised agent, and each result meets a quality gate with a clear pass or fail rule. Tests and security run in parallel. A failure sends the project back to the Debugger or the Fix agent, with retry limits. If retries run out, it stops and asks a human. Only a human can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demo app has one planted bug: any user can delete another user's task. The tests run and 17 of 20 pass. In parallel the security agent finds the same flaw and blocks the release. The Debugger finds the root cause, patches the real file and reruns: 20 of 20, and the scan is clean. A human approves and the project is released. This screenshot is a real run of the demo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transparent. The orchestrator, the test agent, the debugger, the security agent and the API all work on real code. The plan agent replays a saved Bob Plan session so the demo works offline, and build and fix are stubs for now. The demo labels every agent as real, replay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was part of how we built DevForge. Plan mode for the architecture and the plan agent, Agent mode for the contracts, the orchestrator and each teammate's agent, a task list on the long orchestrator task, and a review task. The evidence is in the bob_sessions folder: 21 task screenshots and a session note per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requirements from the hackathon guide and how we answer each one. On the right is the task consumption summary from Bob, as the guide asks: the orchestrator task used 239 thousand of 270 thousand tokens and 40 Bobcoins. Bob reached its budget, the team finished the rest, and we say so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user is a small team lead who ships AI-written code. There are about 36 and a half million professional developers worldwide according to SlashData. As an illustration, one percent of them paying twenty dollars a seat per month would be about 88 million dollars a year. That is our assumption, not a measurement. Revenue comes from team seats, usage per pipeline run in CI, and a self-hosted enterprise plan. Reading requirements, diagnosing failures and writing patches are reasoning tasks, and the orchestrator lets any stage be run by an AI agent behind the same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comes from real runs: 134 automated tests pass and three full runs gave identical results. What makes DevForge different is that it is not a code generator: it runs the lifecycle, gates on tests and security in parallel, loops failures back to the right agent, and leaves the release to a human. We also list our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five people: Fatima leads the orchestrator and integration, Fati built the plan agent, Manar the testing and debug agents and the API, Haytam the security agent, and Safa the memory and metrics. Next we want a hosted dashboard, AI-backed builder, debugger and fix agents behind the same contracts, more gates, and a GitHub Action that runs DevForge on every pull request.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Dev</a:t>
            </a:r>
            <a:pPr indent="0" marL="0">
              <a:buNone/>
            </a:pPr>
            <a:r>
              <a:rPr lang="en-US" sz="6600" b="1" dirty="0">
                <a:solidFill>
                  <a:srgbClr val="FF7A2F"/>
                </a:solidFill>
                <a:latin typeface="Cambria" pitchFamily="34" charset="0"/>
                <a:ea typeface="Cambria" pitchFamily="34" charset="-122"/>
                <a:cs typeface="Cambria" pitchFamily="34" charset="-120"/>
              </a:rPr>
              <a:t>Forge</a:t>
            </a:r>
            <a:endParaRPr lang="en-US" sz="6600" dirty="0"/>
          </a:p>
        </p:txBody>
      </p:sp>
      <p:sp>
        <p:nvSpPr>
          <p:cNvPr id="3" name="Text 1"/>
          <p:cNvSpPr txBox="1"/>
          <p:nvPr/>
        </p:nvSpPr>
        <p:spPr>
          <a:xfrm>
            <a:off x="548640" y="2240280"/>
            <a:ext cx="8046720" cy="457200"/>
          </a:xfrm>
          <a:prstGeom prst="rect">
            <a:avLst/>
          </a:prstGeom>
          <a:noFill/>
          <a:ln/>
        </p:spPr>
        <p:txBody>
          <a:bodyPr wrap="square" lIns="0" tIns="0" rIns="0" bIns="0" rtlCol="0" anchor="ctr"/>
          <a:lstStyle/>
          <a:p>
            <a:pPr indent="0" marL="0">
              <a:buNone/>
            </a:pPr>
            <a:r>
              <a:rPr lang="en-US" sz="2200" dirty="0">
                <a:solidFill>
                  <a:srgbClr val="FF7A2F"/>
                </a:solidFill>
                <a:latin typeface="Calibri" pitchFamily="34" charset="0"/>
                <a:ea typeface="Calibri" pitchFamily="34" charset="-122"/>
                <a:cs typeface="Calibri" pitchFamily="34" charset="-120"/>
              </a:rPr>
              <a:t>An AI orchestrator for the whole software lifecycle</a:t>
            </a:r>
            <a:endParaRPr lang="en-US" sz="2200" dirty="0"/>
          </a:p>
        </p:txBody>
      </p:sp>
      <p:sp>
        <p:nvSpPr>
          <p:cNvPr id="4" name="Text 2"/>
          <p:cNvSpPr txBox="1"/>
          <p:nvPr/>
        </p:nvSpPr>
        <p:spPr>
          <a:xfrm>
            <a:off x="548640" y="2880360"/>
            <a:ext cx="8046720" cy="36576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Plan  &gt;  Build  &gt;  Test  &gt;  Debug  &gt;  Security  &gt;  Fix  &gt;  Human approval  &gt;  Release</a:t>
            </a:r>
            <a:endParaRPr lang="en-US" sz="1400" dirty="0"/>
          </a:p>
        </p:txBody>
      </p:sp>
      <p:sp>
        <p:nvSpPr>
          <p:cNvPr id="5" name="Shape 3"/>
          <p:cNvSpPr/>
          <p:nvPr/>
        </p:nvSpPr>
        <p:spPr>
          <a:xfrm>
            <a:off x="548640" y="3520440"/>
            <a:ext cx="2011680" cy="347472"/>
          </a:xfrm>
          <a:prstGeom prst="roundRect">
            <a:avLst>
              <a:gd name="adj" fmla="val 26316"/>
            </a:avLst>
          </a:prstGeom>
          <a:solidFill>
            <a:srgbClr val="FF7A2F"/>
          </a:solidFill>
          <a:ln/>
        </p:spPr>
      </p:sp>
      <p:sp>
        <p:nvSpPr>
          <p:cNvPr id="6" name="Text 4"/>
          <p:cNvSpPr txBox="1"/>
          <p:nvPr/>
        </p:nvSpPr>
        <p:spPr>
          <a:xfrm>
            <a:off x="548640" y="3520440"/>
            <a:ext cx="2011680" cy="347472"/>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IBM Bob 2.0 Hackathon</a:t>
            </a:r>
            <a:endParaRPr lang="en-US" sz="1200" dirty="0"/>
          </a:p>
        </p:txBody>
      </p:sp>
      <p:sp>
        <p:nvSpPr>
          <p:cNvPr id="7" name="Shape 5"/>
          <p:cNvSpPr/>
          <p:nvPr/>
        </p:nvSpPr>
        <p:spPr>
          <a:xfrm>
            <a:off x="2697480" y="3520440"/>
            <a:ext cx="2194560" cy="347472"/>
          </a:xfrm>
          <a:prstGeom prst="roundRect">
            <a:avLst>
              <a:gd name="adj" fmla="val 26316"/>
            </a:avLst>
          </a:prstGeom>
          <a:solidFill>
            <a:srgbClr val="1F2430"/>
          </a:solidFill>
          <a:ln/>
        </p:spPr>
      </p:sp>
      <p:sp>
        <p:nvSpPr>
          <p:cNvPr id="8" name="Text 6"/>
          <p:cNvSpPr txBox="1"/>
          <p:nvPr/>
        </p:nvSpPr>
        <p:spPr>
          <a:xfrm>
            <a:off x="2697480" y="3520440"/>
            <a:ext cx="21945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Built with IBM Bob</a:t>
            </a:r>
            <a:endParaRPr lang="en-US" sz="1200" dirty="0"/>
          </a:p>
        </p:txBody>
      </p:sp>
      <p:sp>
        <p:nvSpPr>
          <p:cNvPr id="9" name="Text 7"/>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Fatima Ezzahrae (Leader)  |  Fati  |  Manar  |  Haytam  |  Safa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14171F"/>
                </a:solidFill>
                <a:latin typeface="Cambria" pitchFamily="34" charset="0"/>
                <a:ea typeface="Cambria" pitchFamily="34" charset="-122"/>
                <a:cs typeface="Cambria" pitchFamily="34" charset="-120"/>
              </a:rPr>
              <a:t>AI writes code. Nobody proves it works.</a:t>
            </a:r>
            <a:endParaRPr lang="en-US" sz="3000" dirty="0"/>
          </a:p>
        </p:txBody>
      </p:sp>
      <p:sp>
        <p:nvSpPr>
          <p:cNvPr id="3" name="Shape 1"/>
          <p:cNvSpPr/>
          <p:nvPr/>
        </p:nvSpPr>
        <p:spPr>
          <a:xfrm>
            <a:off x="548640" y="1463040"/>
            <a:ext cx="2514600" cy="2468880"/>
          </a:xfrm>
          <a:prstGeom prst="roundRect">
            <a:avLst>
              <a:gd name="adj" fmla="val 3704"/>
            </a:avLst>
          </a:prstGeom>
          <a:solidFill>
            <a:srgbClr val="FFFFFF"/>
          </a:solidFill>
          <a:ln/>
          <a:effectLst>
            <a:outerShdw sx="100000" sy="100000" kx="0" ky="0" algn="bl" rotWithShape="0" blurRad="101600" dist="25400" dir="5400000">
              <a:srgbClr val="000000">
                <a:alpha val="12000"/>
              </a:srgbClr>
            </a:outerShdw>
          </a:effectLst>
        </p:spPr>
      </p:sp>
      <p:sp>
        <p:nvSpPr>
          <p:cNvPr id="4" name="Text 2"/>
          <p:cNvSpPr txBox="1"/>
          <p:nvPr/>
        </p:nvSpPr>
        <p:spPr>
          <a:xfrm>
            <a:off x="777240" y="1645920"/>
            <a:ext cx="548640" cy="548640"/>
          </a:xfrm>
          <a:prstGeom prst="rect">
            <a:avLst/>
          </a:prstGeom>
          <a:noFill/>
          <a:ln/>
        </p:spPr>
        <p:txBody>
          <a:bodyPr wrap="square" lIns="0" tIns="0" rIns="0" bIns="0" rtlCol="0" anchor="ctr"/>
          <a:lstStyle/>
          <a:p>
            <a:pPr indent="0" marL="0">
              <a:buNone/>
            </a:pPr>
            <a:r>
              <a:rPr lang="en-US" sz="3000" b="1" dirty="0">
                <a:solidFill>
                  <a:srgbClr val="FF7A2F"/>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777240" y="2286000"/>
            <a:ext cx="2103120" cy="365760"/>
          </a:xfrm>
          <a:prstGeom prst="rect">
            <a:avLst/>
          </a:prstGeom>
          <a:noFill/>
          <a:ln/>
        </p:spPr>
        <p:txBody>
          <a:bodyPr wrap="square" lIns="0" tIns="0" rIns="0" bIns="0" rtlCol="0" anchor="ctr"/>
          <a:lstStyle/>
          <a:p>
            <a:pPr indent="0" marL="0">
              <a:buNone/>
            </a:pPr>
            <a:r>
              <a:rPr lang="en-US" sz="1800" b="1" dirty="0">
                <a:solidFill>
                  <a:srgbClr val="14171F"/>
                </a:solidFill>
                <a:latin typeface="Cambria" pitchFamily="34" charset="0"/>
                <a:ea typeface="Cambria" pitchFamily="34" charset="-122"/>
                <a:cs typeface="Cambria" pitchFamily="34" charset="-120"/>
              </a:rPr>
              <a:t>No proof</a:t>
            </a:r>
            <a:endParaRPr lang="en-US" sz="1800" dirty="0"/>
          </a:p>
        </p:txBody>
      </p:sp>
      <p:sp>
        <p:nvSpPr>
          <p:cNvPr id="6" name="Text 4"/>
          <p:cNvSpPr txBox="1"/>
          <p:nvPr/>
        </p:nvSpPr>
        <p:spPr>
          <a:xfrm>
            <a:off x="777240" y="2697480"/>
            <a:ext cx="2103120" cy="1097280"/>
          </a:xfrm>
          <a:prstGeom prst="rect">
            <a:avLst/>
          </a:prstGeom>
          <a:noFill/>
          <a:ln/>
        </p:spPr>
        <p:txBody>
          <a:bodyPr wrap="square" lIns="0" tIns="0" rIns="0" bIns="0" rtlCol="0" anchor="t"/>
          <a:lstStyle/>
          <a:p>
            <a:pPr indent="0" marL="0">
              <a:buNone/>
            </a:pPr>
            <a:r>
              <a:rPr lang="en-US" sz="1400" dirty="0">
                <a:solidFill>
                  <a:srgbClr val="5B6675"/>
                </a:solidFill>
                <a:latin typeface="Calibri" pitchFamily="34" charset="0"/>
                <a:ea typeface="Calibri" pitchFamily="34" charset="-122"/>
                <a:cs typeface="Calibri" pitchFamily="34" charset="-120"/>
              </a:rPr>
              <a:t>Generated code ships without a test gate that says pass or fail.</a:t>
            </a:r>
            <a:endParaRPr lang="en-US" sz="1400" dirty="0"/>
          </a:p>
        </p:txBody>
      </p:sp>
      <p:sp>
        <p:nvSpPr>
          <p:cNvPr id="7" name="Shape 5"/>
          <p:cNvSpPr/>
          <p:nvPr/>
        </p:nvSpPr>
        <p:spPr>
          <a:xfrm>
            <a:off x="3291840" y="1463040"/>
            <a:ext cx="2514600" cy="2468880"/>
          </a:xfrm>
          <a:prstGeom prst="roundRect">
            <a:avLst>
              <a:gd name="adj" fmla="val 3704"/>
            </a:avLst>
          </a:prstGeom>
          <a:solidFill>
            <a:srgbClr val="FFFFFF"/>
          </a:solidFill>
          <a:ln/>
          <a:effectLst>
            <a:outerShdw sx="100000" sy="100000" kx="0" ky="0" algn="bl" rotWithShape="0" blurRad="101600" dist="25400" dir="5400000">
              <a:srgbClr val="000000">
                <a:alpha val="12000"/>
              </a:srgbClr>
            </a:outerShdw>
          </a:effectLst>
        </p:spPr>
      </p:sp>
      <p:sp>
        <p:nvSpPr>
          <p:cNvPr id="8" name="Text 6"/>
          <p:cNvSpPr txBox="1"/>
          <p:nvPr/>
        </p:nvSpPr>
        <p:spPr>
          <a:xfrm>
            <a:off x="3520440" y="1645920"/>
            <a:ext cx="548640" cy="548640"/>
          </a:xfrm>
          <a:prstGeom prst="rect">
            <a:avLst/>
          </a:prstGeom>
          <a:noFill/>
          <a:ln/>
        </p:spPr>
        <p:txBody>
          <a:bodyPr wrap="square" lIns="0" tIns="0" rIns="0" bIns="0" rtlCol="0" anchor="ctr"/>
          <a:lstStyle/>
          <a:p>
            <a:pPr indent="0" marL="0">
              <a:buNone/>
            </a:pPr>
            <a:r>
              <a:rPr lang="en-US" sz="3000" b="1" dirty="0">
                <a:solidFill>
                  <a:srgbClr val="FF7A2F"/>
                </a:solidFill>
                <a:latin typeface="Cambria" pitchFamily="34" charset="0"/>
                <a:ea typeface="Cambria" pitchFamily="34" charset="-122"/>
                <a:cs typeface="Cambria" pitchFamily="34" charset="-120"/>
              </a:rPr>
              <a:t>2</a:t>
            </a:r>
            <a:endParaRPr lang="en-US" sz="3000" dirty="0"/>
          </a:p>
        </p:txBody>
      </p:sp>
      <p:sp>
        <p:nvSpPr>
          <p:cNvPr id="9" name="Text 7"/>
          <p:cNvSpPr txBox="1"/>
          <p:nvPr/>
        </p:nvSpPr>
        <p:spPr>
          <a:xfrm>
            <a:off x="3520440" y="2286000"/>
            <a:ext cx="2103120" cy="365760"/>
          </a:xfrm>
          <a:prstGeom prst="rect">
            <a:avLst/>
          </a:prstGeom>
          <a:noFill/>
          <a:ln/>
        </p:spPr>
        <p:txBody>
          <a:bodyPr wrap="square" lIns="0" tIns="0" rIns="0" bIns="0" rtlCol="0" anchor="ctr"/>
          <a:lstStyle/>
          <a:p>
            <a:pPr indent="0" marL="0">
              <a:buNone/>
            </a:pPr>
            <a:r>
              <a:rPr lang="en-US" sz="1800" b="1" dirty="0">
                <a:solidFill>
                  <a:srgbClr val="14171F"/>
                </a:solidFill>
                <a:latin typeface="Cambria" pitchFamily="34" charset="0"/>
                <a:ea typeface="Cambria" pitchFamily="34" charset="-122"/>
                <a:cs typeface="Cambria" pitchFamily="34" charset="-120"/>
              </a:rPr>
              <a:t>No security review</a:t>
            </a:r>
            <a:endParaRPr lang="en-US" sz="1800" dirty="0"/>
          </a:p>
        </p:txBody>
      </p:sp>
      <p:sp>
        <p:nvSpPr>
          <p:cNvPr id="10" name="Text 8"/>
          <p:cNvSpPr txBox="1"/>
          <p:nvPr/>
        </p:nvSpPr>
        <p:spPr>
          <a:xfrm>
            <a:off x="3520440" y="2697480"/>
            <a:ext cx="2103120" cy="1097280"/>
          </a:xfrm>
          <a:prstGeom prst="rect">
            <a:avLst/>
          </a:prstGeom>
          <a:noFill/>
          <a:ln/>
        </p:spPr>
        <p:txBody>
          <a:bodyPr wrap="square" lIns="0" tIns="0" rIns="0" bIns="0" rtlCol="0" anchor="t"/>
          <a:lstStyle/>
          <a:p>
            <a:pPr indent="0" marL="0">
              <a:buNone/>
            </a:pPr>
            <a:r>
              <a:rPr lang="en-US" sz="1400" dirty="0">
                <a:solidFill>
                  <a:srgbClr val="5B6675"/>
                </a:solidFill>
                <a:latin typeface="Calibri" pitchFamily="34" charset="0"/>
                <a:ea typeface="Calibri" pitchFamily="34" charset="-122"/>
                <a:cs typeface="Calibri" pitchFamily="34" charset="-120"/>
              </a:rPr>
              <a:t>Flaws such as broken access control slip through.</a:t>
            </a:r>
            <a:endParaRPr lang="en-US" sz="1400" dirty="0"/>
          </a:p>
        </p:txBody>
      </p:sp>
      <p:sp>
        <p:nvSpPr>
          <p:cNvPr id="11" name="Shape 9"/>
          <p:cNvSpPr/>
          <p:nvPr/>
        </p:nvSpPr>
        <p:spPr>
          <a:xfrm>
            <a:off x="6035040" y="1463040"/>
            <a:ext cx="2514600" cy="2468880"/>
          </a:xfrm>
          <a:prstGeom prst="roundRect">
            <a:avLst>
              <a:gd name="adj" fmla="val 3704"/>
            </a:avLst>
          </a:prstGeom>
          <a:solidFill>
            <a:srgbClr val="FFFFFF"/>
          </a:solidFill>
          <a:ln/>
          <a:effectLst>
            <a:outerShdw sx="100000" sy="100000" kx="0" ky="0" algn="bl" rotWithShape="0" blurRad="101600" dist="25400" dir="5400000">
              <a:srgbClr val="000000">
                <a:alpha val="12000"/>
              </a:srgbClr>
            </a:outerShdw>
          </a:effectLst>
        </p:spPr>
      </p:sp>
      <p:sp>
        <p:nvSpPr>
          <p:cNvPr id="12" name="Text 10"/>
          <p:cNvSpPr txBox="1"/>
          <p:nvPr/>
        </p:nvSpPr>
        <p:spPr>
          <a:xfrm>
            <a:off x="6263640" y="1645920"/>
            <a:ext cx="548640" cy="548640"/>
          </a:xfrm>
          <a:prstGeom prst="rect">
            <a:avLst/>
          </a:prstGeom>
          <a:noFill/>
          <a:ln/>
        </p:spPr>
        <p:txBody>
          <a:bodyPr wrap="square" lIns="0" tIns="0" rIns="0" bIns="0" rtlCol="0" anchor="ctr"/>
          <a:lstStyle/>
          <a:p>
            <a:pPr indent="0" marL="0">
              <a:buNone/>
            </a:pPr>
            <a:r>
              <a:rPr lang="en-US" sz="3000" b="1" dirty="0">
                <a:solidFill>
                  <a:srgbClr val="FF7A2F"/>
                </a:solidFill>
                <a:latin typeface="Cambria" pitchFamily="34" charset="0"/>
                <a:ea typeface="Cambria" pitchFamily="34" charset="-122"/>
                <a:cs typeface="Cambria" pitchFamily="34" charset="-120"/>
              </a:rPr>
              <a:t>3</a:t>
            </a:r>
            <a:endParaRPr lang="en-US" sz="3000" dirty="0"/>
          </a:p>
        </p:txBody>
      </p:sp>
      <p:sp>
        <p:nvSpPr>
          <p:cNvPr id="13" name="Text 11"/>
          <p:cNvSpPr txBox="1"/>
          <p:nvPr/>
        </p:nvSpPr>
        <p:spPr>
          <a:xfrm>
            <a:off x="6263640" y="2286000"/>
            <a:ext cx="2103120" cy="365760"/>
          </a:xfrm>
          <a:prstGeom prst="rect">
            <a:avLst/>
          </a:prstGeom>
          <a:noFill/>
          <a:ln/>
        </p:spPr>
        <p:txBody>
          <a:bodyPr wrap="square" lIns="0" tIns="0" rIns="0" bIns="0" rtlCol="0" anchor="ctr"/>
          <a:lstStyle/>
          <a:p>
            <a:pPr indent="0" marL="0">
              <a:buNone/>
            </a:pPr>
            <a:r>
              <a:rPr lang="en-US" sz="1800" b="1" dirty="0">
                <a:solidFill>
                  <a:srgbClr val="14171F"/>
                </a:solidFill>
                <a:latin typeface="Cambria" pitchFamily="34" charset="0"/>
                <a:ea typeface="Cambria" pitchFamily="34" charset="-122"/>
                <a:cs typeface="Cambria" pitchFamily="34" charset="-120"/>
              </a:rPr>
              <a:t>No accountability</a:t>
            </a:r>
            <a:endParaRPr lang="en-US" sz="1800" dirty="0"/>
          </a:p>
        </p:txBody>
      </p:sp>
      <p:sp>
        <p:nvSpPr>
          <p:cNvPr id="14" name="Text 12"/>
          <p:cNvSpPr txBox="1"/>
          <p:nvPr/>
        </p:nvSpPr>
        <p:spPr>
          <a:xfrm>
            <a:off x="6263640" y="2697480"/>
            <a:ext cx="2103120" cy="1097280"/>
          </a:xfrm>
          <a:prstGeom prst="rect">
            <a:avLst/>
          </a:prstGeom>
          <a:noFill/>
          <a:ln/>
        </p:spPr>
        <p:txBody>
          <a:bodyPr wrap="square" lIns="0" tIns="0" rIns="0" bIns="0" rtlCol="0" anchor="t"/>
          <a:lstStyle/>
          <a:p>
            <a:pPr indent="0" marL="0">
              <a:buNone/>
            </a:pPr>
            <a:r>
              <a:rPr lang="en-US" sz="1400" dirty="0">
                <a:solidFill>
                  <a:srgbClr val="5B6675"/>
                </a:solidFill>
                <a:latin typeface="Calibri" pitchFamily="34" charset="0"/>
                <a:ea typeface="Calibri" pitchFamily="34" charset="-122"/>
                <a:cs typeface="Calibri" pitchFamily="34" charset="-120"/>
              </a:rPr>
              <a:t>Nobody decides who may release, or what happens when checks fail.</a:t>
            </a:r>
            <a:endParaRPr lang="en-US" sz="1400" dirty="0"/>
          </a:p>
        </p:txBody>
      </p:sp>
      <p:sp>
        <p:nvSpPr>
          <p:cNvPr id="15" name="Text 13"/>
          <p:cNvSpPr txBox="1"/>
          <p:nvPr/>
        </p:nvSpPr>
        <p:spPr>
          <a:xfrm>
            <a:off x="548640" y="4114800"/>
            <a:ext cx="8046720" cy="45720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Our user: a small team lead who ships AI-written code and needs proof it works, is safe, and who signed off. Teams lose hours coordinating tests, debugging, security review and release.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orchestrator, specialised agents, real gates</a:t>
            </a:r>
            <a:endParaRPr lang="en-US" sz="3000" dirty="0"/>
          </a:p>
        </p:txBody>
      </p:sp>
      <p:sp>
        <p:nvSpPr>
          <p:cNvPr id="3" name="Shape 1"/>
          <p:cNvSpPr/>
          <p:nvPr/>
        </p:nvSpPr>
        <p:spPr>
          <a:xfrm>
            <a:off x="365760" y="2286000"/>
            <a:ext cx="914400" cy="731520"/>
          </a:xfrm>
          <a:prstGeom prst="roundRect">
            <a:avLst>
              <a:gd name="adj" fmla="val 10000"/>
            </a:avLst>
          </a:prstGeom>
          <a:solidFill>
            <a:srgbClr val="1F2430"/>
          </a:solidFill>
          <a:ln/>
        </p:spPr>
      </p:sp>
      <p:sp>
        <p:nvSpPr>
          <p:cNvPr id="4" name="Text 2"/>
          <p:cNvSpPr txBox="1"/>
          <p:nvPr/>
        </p:nvSpPr>
        <p:spPr>
          <a:xfrm>
            <a:off x="365760" y="2340864"/>
            <a:ext cx="914400" cy="365760"/>
          </a:xfrm>
          <a:prstGeom prst="rect">
            <a:avLst/>
          </a:prstGeom>
          <a:noFill/>
          <a:ln/>
        </p:spPr>
        <p:txBody>
          <a:bodyPr wrap="square" lIns="0" tIns="0" rIns="0" bIns="0" rtlCol="0" anchor="ctr"/>
          <a:lstStyle/>
          <a:p>
            <a:pPr algn="ctr" indent="0" marL="0">
              <a:buNone/>
            </a:pPr>
            <a:r>
              <a:rPr lang="en-US" sz="1300" b="1" dirty="0">
                <a:solidFill>
                  <a:srgbClr val="FF7A2F"/>
                </a:solidFill>
                <a:latin typeface="Cambria" pitchFamily="34" charset="0"/>
                <a:ea typeface="Cambria" pitchFamily="34" charset="-122"/>
                <a:cs typeface="Cambria" pitchFamily="34" charset="-120"/>
              </a:rPr>
              <a:t>PLAN</a:t>
            </a:r>
            <a:endParaRPr lang="en-US" sz="1300" dirty="0"/>
          </a:p>
        </p:txBody>
      </p:sp>
      <p:sp>
        <p:nvSpPr>
          <p:cNvPr id="5" name="Text 3"/>
          <p:cNvSpPr txBox="1"/>
          <p:nvPr/>
        </p:nvSpPr>
        <p:spPr>
          <a:xfrm>
            <a:off x="365760" y="2651760"/>
            <a:ext cx="914400" cy="292608"/>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plan agent</a:t>
            </a:r>
            <a:endParaRPr lang="en-US" sz="900" dirty="0"/>
          </a:p>
        </p:txBody>
      </p:sp>
      <p:sp>
        <p:nvSpPr>
          <p:cNvPr id="6" name="Shape 4"/>
          <p:cNvSpPr/>
          <p:nvPr/>
        </p:nvSpPr>
        <p:spPr>
          <a:xfrm>
            <a:off x="1554480" y="2286000"/>
            <a:ext cx="914400" cy="731520"/>
          </a:xfrm>
          <a:prstGeom prst="roundRect">
            <a:avLst>
              <a:gd name="adj" fmla="val 10000"/>
            </a:avLst>
          </a:prstGeom>
          <a:solidFill>
            <a:srgbClr val="1F2430"/>
          </a:solidFill>
          <a:ln/>
        </p:spPr>
      </p:sp>
      <p:sp>
        <p:nvSpPr>
          <p:cNvPr id="7" name="Text 5"/>
          <p:cNvSpPr txBox="1"/>
          <p:nvPr/>
        </p:nvSpPr>
        <p:spPr>
          <a:xfrm>
            <a:off x="1554480" y="2340864"/>
            <a:ext cx="914400" cy="365760"/>
          </a:xfrm>
          <a:prstGeom prst="rect">
            <a:avLst/>
          </a:prstGeom>
          <a:noFill/>
          <a:ln/>
        </p:spPr>
        <p:txBody>
          <a:bodyPr wrap="square" lIns="0" tIns="0" rIns="0" bIns="0" rtlCol="0" anchor="ctr"/>
          <a:lstStyle/>
          <a:p>
            <a:pPr algn="ctr" indent="0" marL="0">
              <a:buNone/>
            </a:pPr>
            <a:r>
              <a:rPr lang="en-US" sz="1300" b="1" dirty="0">
                <a:solidFill>
                  <a:srgbClr val="FF7A2F"/>
                </a:solidFill>
                <a:latin typeface="Cambria" pitchFamily="34" charset="0"/>
                <a:ea typeface="Cambria" pitchFamily="34" charset="-122"/>
                <a:cs typeface="Cambria" pitchFamily="34" charset="-120"/>
              </a:rPr>
              <a:t>BUILD</a:t>
            </a:r>
            <a:endParaRPr lang="en-US" sz="1300" dirty="0"/>
          </a:p>
        </p:txBody>
      </p:sp>
      <p:sp>
        <p:nvSpPr>
          <p:cNvPr id="8" name="Text 6"/>
          <p:cNvSpPr txBox="1"/>
          <p:nvPr/>
        </p:nvSpPr>
        <p:spPr>
          <a:xfrm>
            <a:off x="1554480" y="2651760"/>
            <a:ext cx="914400" cy="292608"/>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builder</a:t>
            </a:r>
            <a:endParaRPr lang="en-US" sz="900" dirty="0"/>
          </a:p>
        </p:txBody>
      </p:sp>
      <p:sp>
        <p:nvSpPr>
          <p:cNvPr id="9" name="Shape 7"/>
          <p:cNvSpPr/>
          <p:nvPr/>
        </p:nvSpPr>
        <p:spPr>
          <a:xfrm>
            <a:off x="2788920" y="1874520"/>
            <a:ext cx="1188720" cy="640080"/>
          </a:xfrm>
          <a:prstGeom prst="roundRect">
            <a:avLst>
              <a:gd name="adj" fmla="val 11429"/>
            </a:avLst>
          </a:prstGeom>
          <a:solidFill>
            <a:srgbClr val="1F2430"/>
          </a:solidFill>
          <a:ln/>
        </p:spPr>
      </p:sp>
      <p:sp>
        <p:nvSpPr>
          <p:cNvPr id="10" name="Text 8"/>
          <p:cNvSpPr txBox="1"/>
          <p:nvPr/>
        </p:nvSpPr>
        <p:spPr>
          <a:xfrm>
            <a:off x="2788920" y="1929384"/>
            <a:ext cx="1188720" cy="320040"/>
          </a:xfrm>
          <a:prstGeom prst="rect">
            <a:avLst/>
          </a:prstGeom>
          <a:noFill/>
          <a:ln/>
        </p:spPr>
        <p:txBody>
          <a:bodyPr wrap="square" lIns="0" tIns="0" rIns="0" bIns="0" rtlCol="0" anchor="ctr"/>
          <a:lstStyle/>
          <a:p>
            <a:pPr algn="ctr" indent="0" marL="0">
              <a:buNone/>
            </a:pPr>
            <a:r>
              <a:rPr lang="en-US" sz="1300" b="1" dirty="0">
                <a:solidFill>
                  <a:srgbClr val="FF7A2F"/>
                </a:solidFill>
                <a:latin typeface="Cambria" pitchFamily="34" charset="0"/>
                <a:ea typeface="Cambria" pitchFamily="34" charset="-122"/>
                <a:cs typeface="Cambria" pitchFamily="34" charset="-120"/>
              </a:rPr>
              <a:t>TEST</a:t>
            </a:r>
            <a:endParaRPr lang="en-US" sz="1300" dirty="0"/>
          </a:p>
        </p:txBody>
      </p:sp>
      <p:sp>
        <p:nvSpPr>
          <p:cNvPr id="11" name="Text 9"/>
          <p:cNvSpPr txBox="1"/>
          <p:nvPr/>
        </p:nvSpPr>
        <p:spPr>
          <a:xfrm>
            <a:off x="2788920" y="2194560"/>
            <a:ext cx="1188720" cy="256032"/>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testing agent</a:t>
            </a:r>
            <a:endParaRPr lang="en-US" sz="900" dirty="0"/>
          </a:p>
        </p:txBody>
      </p:sp>
      <p:sp>
        <p:nvSpPr>
          <p:cNvPr id="12" name="Shape 10"/>
          <p:cNvSpPr/>
          <p:nvPr/>
        </p:nvSpPr>
        <p:spPr>
          <a:xfrm>
            <a:off x="2788920" y="2788920"/>
            <a:ext cx="1188720" cy="640080"/>
          </a:xfrm>
          <a:prstGeom prst="roundRect">
            <a:avLst>
              <a:gd name="adj" fmla="val 11429"/>
            </a:avLst>
          </a:prstGeom>
          <a:solidFill>
            <a:srgbClr val="1F2430"/>
          </a:solidFill>
          <a:ln/>
        </p:spPr>
      </p:sp>
      <p:sp>
        <p:nvSpPr>
          <p:cNvPr id="13" name="Text 11"/>
          <p:cNvSpPr txBox="1"/>
          <p:nvPr/>
        </p:nvSpPr>
        <p:spPr>
          <a:xfrm>
            <a:off x="2788920" y="2843784"/>
            <a:ext cx="1188720" cy="320040"/>
          </a:xfrm>
          <a:prstGeom prst="rect">
            <a:avLst/>
          </a:prstGeom>
          <a:noFill/>
          <a:ln/>
        </p:spPr>
        <p:txBody>
          <a:bodyPr wrap="square" lIns="0" tIns="0" rIns="0" bIns="0" rtlCol="0" anchor="ctr"/>
          <a:lstStyle/>
          <a:p>
            <a:pPr algn="ctr" indent="0" marL="0">
              <a:buNone/>
            </a:pPr>
            <a:r>
              <a:rPr lang="en-US" sz="1300" b="1" dirty="0">
                <a:solidFill>
                  <a:srgbClr val="FF7A2F"/>
                </a:solidFill>
                <a:latin typeface="Cambria" pitchFamily="34" charset="0"/>
                <a:ea typeface="Cambria" pitchFamily="34" charset="-122"/>
                <a:cs typeface="Cambria" pitchFamily="34" charset="-120"/>
              </a:rPr>
              <a:t>SECURITY</a:t>
            </a:r>
            <a:endParaRPr lang="en-US" sz="1300" dirty="0"/>
          </a:p>
        </p:txBody>
      </p:sp>
      <p:sp>
        <p:nvSpPr>
          <p:cNvPr id="14" name="Text 12"/>
          <p:cNvSpPr txBox="1"/>
          <p:nvPr/>
        </p:nvSpPr>
        <p:spPr>
          <a:xfrm>
            <a:off x="2788920" y="3108960"/>
            <a:ext cx="1188720" cy="256032"/>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red-team agent</a:t>
            </a:r>
            <a:endParaRPr lang="en-US" sz="900" dirty="0"/>
          </a:p>
        </p:txBody>
      </p:sp>
      <p:sp>
        <p:nvSpPr>
          <p:cNvPr id="15" name="Shape 13"/>
          <p:cNvSpPr/>
          <p:nvPr/>
        </p:nvSpPr>
        <p:spPr>
          <a:xfrm>
            <a:off x="4343400" y="1874520"/>
            <a:ext cx="1280160" cy="640080"/>
          </a:xfrm>
          <a:prstGeom prst="roundRect">
            <a:avLst>
              <a:gd name="adj" fmla="val 11429"/>
            </a:avLst>
          </a:prstGeom>
          <a:solidFill>
            <a:srgbClr val="2FBF71"/>
          </a:solidFill>
          <a:ln/>
        </p:spPr>
      </p:sp>
      <p:sp>
        <p:nvSpPr>
          <p:cNvPr id="16" name="Text 14"/>
          <p:cNvSpPr txBox="1"/>
          <p:nvPr/>
        </p:nvSpPr>
        <p:spPr>
          <a:xfrm>
            <a:off x="4343400" y="1929384"/>
            <a:ext cx="1280160" cy="320040"/>
          </a:xfrm>
          <a:prstGeom prst="rect">
            <a:avLst/>
          </a:prstGeom>
          <a:noFill/>
          <a:ln/>
        </p:spPr>
        <p:txBody>
          <a:bodyPr wrap="square" lIns="0" tIns="0" rIns="0" bIns="0" rtlCol="0" anchor="ctr"/>
          <a:lstStyle/>
          <a:p>
            <a:pPr algn="ctr" indent="0" marL="0">
              <a:buNone/>
            </a:pPr>
            <a:r>
              <a:rPr lang="en-US" sz="1300" b="1" dirty="0">
                <a:solidFill>
                  <a:srgbClr val="14171F"/>
                </a:solidFill>
                <a:latin typeface="Cambria" pitchFamily="34" charset="0"/>
                <a:ea typeface="Cambria" pitchFamily="34" charset="-122"/>
                <a:cs typeface="Cambria" pitchFamily="34" charset="-120"/>
              </a:rPr>
              <a:t>TESTS GATE</a:t>
            </a:r>
            <a:endParaRPr lang="en-US" sz="1300" dirty="0"/>
          </a:p>
        </p:txBody>
      </p:sp>
      <p:sp>
        <p:nvSpPr>
          <p:cNvPr id="17" name="Text 15"/>
          <p:cNvSpPr txBox="1"/>
          <p:nvPr/>
        </p:nvSpPr>
        <p:spPr>
          <a:xfrm>
            <a:off x="4343400" y="2194560"/>
            <a:ext cx="1280160" cy="256032"/>
          </a:xfrm>
          <a:prstGeom prst="rect">
            <a:avLst/>
          </a:prstGeom>
          <a:noFill/>
          <a:ln/>
        </p:spPr>
        <p:txBody>
          <a:bodyPr wrap="square" lIns="0" tIns="0" rIns="0" bIns="0" rtlCol="0" anchor="t"/>
          <a:lstStyle/>
          <a:p>
            <a:pPr algn="ctr" indent="0" marL="0">
              <a:buNone/>
            </a:pPr>
            <a:r>
              <a:rPr lang="en-US" sz="900" dirty="0">
                <a:solidFill>
                  <a:srgbClr val="14171F"/>
                </a:solidFill>
                <a:latin typeface="Calibri" pitchFamily="34" charset="0"/>
                <a:ea typeface="Calibri" pitchFamily="34" charset="-122"/>
                <a:cs typeface="Calibri" pitchFamily="34" charset="-120"/>
              </a:rPr>
              <a:t>100% pass</a:t>
            </a:r>
            <a:endParaRPr lang="en-US" sz="900" dirty="0"/>
          </a:p>
        </p:txBody>
      </p:sp>
      <p:sp>
        <p:nvSpPr>
          <p:cNvPr id="18" name="Shape 16"/>
          <p:cNvSpPr/>
          <p:nvPr/>
        </p:nvSpPr>
        <p:spPr>
          <a:xfrm>
            <a:off x="4343400" y="2788920"/>
            <a:ext cx="1280160" cy="640080"/>
          </a:xfrm>
          <a:prstGeom prst="roundRect">
            <a:avLst>
              <a:gd name="adj" fmla="val 11429"/>
            </a:avLst>
          </a:prstGeom>
          <a:solidFill>
            <a:srgbClr val="2FBF71"/>
          </a:solidFill>
          <a:ln/>
        </p:spPr>
      </p:sp>
      <p:sp>
        <p:nvSpPr>
          <p:cNvPr id="19" name="Text 17"/>
          <p:cNvSpPr txBox="1"/>
          <p:nvPr/>
        </p:nvSpPr>
        <p:spPr>
          <a:xfrm>
            <a:off x="4343400" y="2843784"/>
            <a:ext cx="1280160" cy="320040"/>
          </a:xfrm>
          <a:prstGeom prst="rect">
            <a:avLst/>
          </a:prstGeom>
          <a:noFill/>
          <a:ln/>
        </p:spPr>
        <p:txBody>
          <a:bodyPr wrap="square" lIns="0" tIns="0" rIns="0" bIns="0" rtlCol="0" anchor="ctr"/>
          <a:lstStyle/>
          <a:p>
            <a:pPr algn="ctr" indent="0" marL="0">
              <a:buNone/>
            </a:pPr>
            <a:r>
              <a:rPr lang="en-US" sz="1300" b="1" dirty="0">
                <a:solidFill>
                  <a:srgbClr val="14171F"/>
                </a:solidFill>
                <a:latin typeface="Cambria" pitchFamily="34" charset="0"/>
                <a:ea typeface="Cambria" pitchFamily="34" charset="-122"/>
                <a:cs typeface="Cambria" pitchFamily="34" charset="-120"/>
              </a:rPr>
              <a:t>SECURITY GATE</a:t>
            </a:r>
            <a:endParaRPr lang="en-US" sz="1300" dirty="0"/>
          </a:p>
        </p:txBody>
      </p:sp>
      <p:sp>
        <p:nvSpPr>
          <p:cNvPr id="20" name="Text 18"/>
          <p:cNvSpPr txBox="1"/>
          <p:nvPr/>
        </p:nvSpPr>
        <p:spPr>
          <a:xfrm>
            <a:off x="4343400" y="3108960"/>
            <a:ext cx="1280160" cy="256032"/>
          </a:xfrm>
          <a:prstGeom prst="rect">
            <a:avLst/>
          </a:prstGeom>
          <a:noFill/>
          <a:ln/>
        </p:spPr>
        <p:txBody>
          <a:bodyPr wrap="square" lIns="0" tIns="0" rIns="0" bIns="0" rtlCol="0" anchor="t"/>
          <a:lstStyle/>
          <a:p>
            <a:pPr algn="ctr" indent="0" marL="0">
              <a:buNone/>
            </a:pPr>
            <a:r>
              <a:rPr lang="en-US" sz="900" dirty="0">
                <a:solidFill>
                  <a:srgbClr val="14171F"/>
                </a:solidFill>
                <a:latin typeface="Calibri" pitchFamily="34" charset="0"/>
                <a:ea typeface="Calibri" pitchFamily="34" charset="-122"/>
                <a:cs typeface="Calibri" pitchFamily="34" charset="-120"/>
              </a:rPr>
              <a:t>no critical / high</a:t>
            </a:r>
            <a:endParaRPr lang="en-US" sz="900" dirty="0"/>
          </a:p>
        </p:txBody>
      </p:sp>
      <p:sp>
        <p:nvSpPr>
          <p:cNvPr id="21" name="Shape 19"/>
          <p:cNvSpPr/>
          <p:nvPr/>
        </p:nvSpPr>
        <p:spPr>
          <a:xfrm>
            <a:off x="5989320" y="2286000"/>
            <a:ext cx="1188720" cy="731520"/>
          </a:xfrm>
          <a:prstGeom prst="roundRect">
            <a:avLst>
              <a:gd name="adj" fmla="val 10000"/>
            </a:avLst>
          </a:prstGeom>
          <a:solidFill>
            <a:srgbClr val="FF7A2F"/>
          </a:solidFill>
          <a:ln/>
        </p:spPr>
      </p:sp>
      <p:sp>
        <p:nvSpPr>
          <p:cNvPr id="22" name="Text 20"/>
          <p:cNvSpPr txBox="1"/>
          <p:nvPr/>
        </p:nvSpPr>
        <p:spPr>
          <a:xfrm>
            <a:off x="5989320" y="2340864"/>
            <a:ext cx="1188720" cy="365760"/>
          </a:xfrm>
          <a:prstGeom prst="rect">
            <a:avLst/>
          </a:prstGeom>
          <a:noFill/>
          <a:ln/>
        </p:spPr>
        <p:txBody>
          <a:bodyPr wrap="square" lIns="0" tIns="0" rIns="0" bIns="0" rtlCol="0" anchor="ctr"/>
          <a:lstStyle/>
          <a:p>
            <a:pPr algn="ctr" indent="0" marL="0">
              <a:buNone/>
            </a:pPr>
            <a:r>
              <a:rPr lang="en-US" sz="1300" b="1" dirty="0">
                <a:solidFill>
                  <a:srgbClr val="14171F"/>
                </a:solidFill>
                <a:latin typeface="Cambria" pitchFamily="34" charset="0"/>
                <a:ea typeface="Cambria" pitchFamily="34" charset="-122"/>
                <a:cs typeface="Cambria" pitchFamily="34" charset="-120"/>
              </a:rPr>
              <a:t>HUMAN</a:t>
            </a:r>
            <a:endParaRPr lang="en-US" sz="1300" dirty="0"/>
          </a:p>
        </p:txBody>
      </p:sp>
      <p:sp>
        <p:nvSpPr>
          <p:cNvPr id="23" name="Text 21"/>
          <p:cNvSpPr txBox="1"/>
          <p:nvPr/>
        </p:nvSpPr>
        <p:spPr>
          <a:xfrm>
            <a:off x="5989320" y="2651760"/>
            <a:ext cx="1188720" cy="292608"/>
          </a:xfrm>
          <a:prstGeom prst="rect">
            <a:avLst/>
          </a:prstGeom>
          <a:noFill/>
          <a:ln/>
        </p:spPr>
        <p:txBody>
          <a:bodyPr wrap="square" lIns="0" tIns="0" rIns="0" bIns="0" rtlCol="0" anchor="t"/>
          <a:lstStyle/>
          <a:p>
            <a:pPr algn="ctr" indent="0" marL="0">
              <a:buNone/>
            </a:pPr>
            <a:r>
              <a:rPr lang="en-US" sz="900" dirty="0">
                <a:solidFill>
                  <a:srgbClr val="14171F"/>
                </a:solidFill>
                <a:latin typeface="Calibri" pitchFamily="34" charset="0"/>
                <a:ea typeface="Calibri" pitchFamily="34" charset="-122"/>
                <a:cs typeface="Calibri" pitchFamily="34" charset="-120"/>
              </a:rPr>
              <a:t>approves release</a:t>
            </a:r>
            <a:endParaRPr lang="en-US" sz="900" dirty="0"/>
          </a:p>
        </p:txBody>
      </p:sp>
      <p:sp>
        <p:nvSpPr>
          <p:cNvPr id="24" name="Shape 22"/>
          <p:cNvSpPr/>
          <p:nvPr/>
        </p:nvSpPr>
        <p:spPr>
          <a:xfrm>
            <a:off x="7498080" y="2286000"/>
            <a:ext cx="1188720" cy="731520"/>
          </a:xfrm>
          <a:prstGeom prst="roundRect">
            <a:avLst>
              <a:gd name="adj" fmla="val 10000"/>
            </a:avLst>
          </a:prstGeom>
          <a:solidFill>
            <a:srgbClr val="1F2430"/>
          </a:solidFill>
          <a:ln/>
        </p:spPr>
      </p:sp>
      <p:sp>
        <p:nvSpPr>
          <p:cNvPr id="25" name="Text 23"/>
          <p:cNvSpPr txBox="1"/>
          <p:nvPr/>
        </p:nvSpPr>
        <p:spPr>
          <a:xfrm>
            <a:off x="7498080" y="2340864"/>
            <a:ext cx="1188720" cy="365760"/>
          </a:xfrm>
          <a:prstGeom prst="rect">
            <a:avLst/>
          </a:prstGeom>
          <a:noFill/>
          <a:ln/>
        </p:spPr>
        <p:txBody>
          <a:bodyPr wrap="square" lIns="0" tIns="0" rIns="0" bIns="0" rtlCol="0" anchor="ctr"/>
          <a:lstStyle/>
          <a:p>
            <a:pPr algn="ctr" indent="0" marL="0">
              <a:buNone/>
            </a:pPr>
            <a:r>
              <a:rPr lang="en-US" sz="1300" b="1" dirty="0">
                <a:solidFill>
                  <a:srgbClr val="2FBF71"/>
                </a:solidFill>
                <a:latin typeface="Cambria" pitchFamily="34" charset="0"/>
                <a:ea typeface="Cambria" pitchFamily="34" charset="-122"/>
                <a:cs typeface="Cambria" pitchFamily="34" charset="-120"/>
              </a:rPr>
              <a:t>RELEASED</a:t>
            </a:r>
            <a:endParaRPr lang="en-US" sz="1300" dirty="0"/>
          </a:p>
        </p:txBody>
      </p:sp>
      <p:sp>
        <p:nvSpPr>
          <p:cNvPr id="26" name="Shape 24"/>
          <p:cNvSpPr/>
          <p:nvPr/>
        </p:nvSpPr>
        <p:spPr>
          <a:xfrm>
            <a:off x="1280160" y="2651760"/>
            <a:ext cx="274320" cy="0"/>
          </a:xfrm>
          <a:prstGeom prst="line">
            <a:avLst/>
          </a:prstGeom>
          <a:noFill/>
          <a:ln w="19050">
            <a:solidFill>
              <a:srgbClr val="8FA3B8"/>
            </a:solidFill>
            <a:prstDash val="solid"/>
            <a:tailEnd type="triangle"/>
          </a:ln>
        </p:spPr>
      </p:sp>
      <p:sp>
        <p:nvSpPr>
          <p:cNvPr id="27" name="Shape 25"/>
          <p:cNvSpPr/>
          <p:nvPr/>
        </p:nvSpPr>
        <p:spPr>
          <a:xfrm flipV="1">
            <a:off x="2468880" y="2194560"/>
            <a:ext cx="320040" cy="457200"/>
          </a:xfrm>
          <a:prstGeom prst="line">
            <a:avLst/>
          </a:prstGeom>
          <a:noFill/>
          <a:ln w="19050">
            <a:solidFill>
              <a:srgbClr val="8FA3B8"/>
            </a:solidFill>
            <a:prstDash val="solid"/>
            <a:tailEnd type="triangle"/>
          </a:ln>
        </p:spPr>
      </p:sp>
      <p:sp>
        <p:nvSpPr>
          <p:cNvPr id="28" name="Shape 26"/>
          <p:cNvSpPr/>
          <p:nvPr/>
        </p:nvSpPr>
        <p:spPr>
          <a:xfrm>
            <a:off x="2468880" y="2651760"/>
            <a:ext cx="320040" cy="457200"/>
          </a:xfrm>
          <a:prstGeom prst="line">
            <a:avLst/>
          </a:prstGeom>
          <a:noFill/>
          <a:ln w="19050">
            <a:solidFill>
              <a:srgbClr val="8FA3B8"/>
            </a:solidFill>
            <a:prstDash val="solid"/>
            <a:tailEnd type="triangle"/>
          </a:ln>
        </p:spPr>
      </p:sp>
      <p:sp>
        <p:nvSpPr>
          <p:cNvPr id="29" name="Shape 27"/>
          <p:cNvSpPr/>
          <p:nvPr/>
        </p:nvSpPr>
        <p:spPr>
          <a:xfrm>
            <a:off x="3977640" y="2194560"/>
            <a:ext cx="365760" cy="0"/>
          </a:xfrm>
          <a:prstGeom prst="line">
            <a:avLst/>
          </a:prstGeom>
          <a:noFill/>
          <a:ln w="19050">
            <a:solidFill>
              <a:srgbClr val="8FA3B8"/>
            </a:solidFill>
            <a:prstDash val="solid"/>
            <a:tailEnd type="triangle"/>
          </a:ln>
        </p:spPr>
      </p:sp>
      <p:sp>
        <p:nvSpPr>
          <p:cNvPr id="30" name="Shape 28"/>
          <p:cNvSpPr/>
          <p:nvPr/>
        </p:nvSpPr>
        <p:spPr>
          <a:xfrm>
            <a:off x="3977640" y="3108960"/>
            <a:ext cx="365760" cy="0"/>
          </a:xfrm>
          <a:prstGeom prst="line">
            <a:avLst/>
          </a:prstGeom>
          <a:noFill/>
          <a:ln w="19050">
            <a:solidFill>
              <a:srgbClr val="8FA3B8"/>
            </a:solidFill>
            <a:prstDash val="solid"/>
            <a:tailEnd type="triangle"/>
          </a:ln>
        </p:spPr>
      </p:sp>
      <p:sp>
        <p:nvSpPr>
          <p:cNvPr id="31" name="Shape 29"/>
          <p:cNvSpPr/>
          <p:nvPr/>
        </p:nvSpPr>
        <p:spPr>
          <a:xfrm>
            <a:off x="5623560" y="2194560"/>
            <a:ext cx="365760" cy="320040"/>
          </a:xfrm>
          <a:prstGeom prst="line">
            <a:avLst/>
          </a:prstGeom>
          <a:noFill/>
          <a:ln w="19050">
            <a:solidFill>
              <a:srgbClr val="8FA3B8"/>
            </a:solidFill>
            <a:prstDash val="solid"/>
            <a:tailEnd type="triangle"/>
          </a:ln>
        </p:spPr>
      </p:sp>
      <p:sp>
        <p:nvSpPr>
          <p:cNvPr id="32" name="Shape 30"/>
          <p:cNvSpPr/>
          <p:nvPr/>
        </p:nvSpPr>
        <p:spPr>
          <a:xfrm flipV="1">
            <a:off x="5623560" y="2788920"/>
            <a:ext cx="365760" cy="320040"/>
          </a:xfrm>
          <a:prstGeom prst="line">
            <a:avLst/>
          </a:prstGeom>
          <a:noFill/>
          <a:ln w="19050">
            <a:solidFill>
              <a:srgbClr val="8FA3B8"/>
            </a:solidFill>
            <a:prstDash val="solid"/>
            <a:tailEnd type="triangle"/>
          </a:ln>
        </p:spPr>
      </p:sp>
      <p:sp>
        <p:nvSpPr>
          <p:cNvPr id="33" name="Shape 31"/>
          <p:cNvSpPr/>
          <p:nvPr/>
        </p:nvSpPr>
        <p:spPr>
          <a:xfrm>
            <a:off x="7178040" y="2651760"/>
            <a:ext cx="320040" cy="0"/>
          </a:xfrm>
          <a:prstGeom prst="line">
            <a:avLst/>
          </a:prstGeom>
          <a:noFill/>
          <a:ln w="19050">
            <a:solidFill>
              <a:srgbClr val="8FA3B8"/>
            </a:solidFill>
            <a:prstDash val="solid"/>
            <a:tailEnd type="triangle"/>
          </a:ln>
        </p:spPr>
      </p:sp>
      <p:sp>
        <p:nvSpPr>
          <p:cNvPr id="34" name="Shape 32"/>
          <p:cNvSpPr/>
          <p:nvPr/>
        </p:nvSpPr>
        <p:spPr>
          <a:xfrm>
            <a:off x="4343400" y="1097280"/>
            <a:ext cx="1280160" cy="594360"/>
          </a:xfrm>
          <a:prstGeom prst="roundRect">
            <a:avLst>
              <a:gd name="adj" fmla="val 12308"/>
            </a:avLst>
          </a:prstGeom>
          <a:solidFill>
            <a:srgbClr val="1F2430"/>
          </a:solidFill>
          <a:ln/>
        </p:spPr>
      </p:sp>
      <p:sp>
        <p:nvSpPr>
          <p:cNvPr id="35" name="Text 33"/>
          <p:cNvSpPr txBox="1"/>
          <p:nvPr/>
        </p:nvSpPr>
        <p:spPr>
          <a:xfrm>
            <a:off x="4343400" y="1152144"/>
            <a:ext cx="1280160" cy="297180"/>
          </a:xfrm>
          <a:prstGeom prst="rect">
            <a:avLst/>
          </a:prstGeom>
          <a:noFill/>
          <a:ln/>
        </p:spPr>
        <p:txBody>
          <a:bodyPr wrap="square" lIns="0" tIns="0" rIns="0" bIns="0" rtlCol="0" anchor="ctr"/>
          <a:lstStyle/>
          <a:p>
            <a:pPr algn="ctr" indent="0" marL="0">
              <a:buNone/>
            </a:pPr>
            <a:r>
              <a:rPr lang="en-US" sz="1300" b="1" dirty="0">
                <a:solidFill>
                  <a:srgbClr val="E5484D"/>
                </a:solidFill>
                <a:latin typeface="Cambria" pitchFamily="34" charset="0"/>
                <a:ea typeface="Cambria" pitchFamily="34" charset="-122"/>
                <a:cs typeface="Cambria" pitchFamily="34" charset="-120"/>
              </a:rPr>
              <a:t>DEBUGGER</a:t>
            </a:r>
            <a:endParaRPr lang="en-US" sz="1300" dirty="0"/>
          </a:p>
        </p:txBody>
      </p:sp>
      <p:sp>
        <p:nvSpPr>
          <p:cNvPr id="36" name="Text 34"/>
          <p:cNvSpPr txBox="1"/>
          <p:nvPr/>
        </p:nvSpPr>
        <p:spPr>
          <a:xfrm>
            <a:off x="4343400" y="1394460"/>
            <a:ext cx="1280160" cy="237744"/>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patches, then re-test</a:t>
            </a:r>
            <a:endParaRPr lang="en-US" sz="900" dirty="0"/>
          </a:p>
        </p:txBody>
      </p:sp>
      <p:sp>
        <p:nvSpPr>
          <p:cNvPr id="37" name="Shape 35"/>
          <p:cNvSpPr/>
          <p:nvPr/>
        </p:nvSpPr>
        <p:spPr>
          <a:xfrm>
            <a:off x="4343400" y="3703320"/>
            <a:ext cx="1280160" cy="594360"/>
          </a:xfrm>
          <a:prstGeom prst="roundRect">
            <a:avLst>
              <a:gd name="adj" fmla="val 12308"/>
            </a:avLst>
          </a:prstGeom>
          <a:solidFill>
            <a:srgbClr val="1F2430"/>
          </a:solidFill>
          <a:ln/>
        </p:spPr>
      </p:sp>
      <p:sp>
        <p:nvSpPr>
          <p:cNvPr id="38" name="Text 36"/>
          <p:cNvSpPr txBox="1"/>
          <p:nvPr/>
        </p:nvSpPr>
        <p:spPr>
          <a:xfrm>
            <a:off x="4343400" y="3758184"/>
            <a:ext cx="1280160" cy="297180"/>
          </a:xfrm>
          <a:prstGeom prst="rect">
            <a:avLst/>
          </a:prstGeom>
          <a:noFill/>
          <a:ln/>
        </p:spPr>
        <p:txBody>
          <a:bodyPr wrap="square" lIns="0" tIns="0" rIns="0" bIns="0" rtlCol="0" anchor="ctr"/>
          <a:lstStyle/>
          <a:p>
            <a:pPr algn="ctr" indent="0" marL="0">
              <a:buNone/>
            </a:pPr>
            <a:r>
              <a:rPr lang="en-US" sz="1300" b="1" dirty="0">
                <a:solidFill>
                  <a:srgbClr val="E5484D"/>
                </a:solidFill>
                <a:latin typeface="Cambria" pitchFamily="34" charset="0"/>
                <a:ea typeface="Cambria" pitchFamily="34" charset="-122"/>
                <a:cs typeface="Cambria" pitchFamily="34" charset="-120"/>
              </a:rPr>
              <a:t>FIX AGENT</a:t>
            </a:r>
            <a:endParaRPr lang="en-US" sz="1300" dirty="0"/>
          </a:p>
        </p:txBody>
      </p:sp>
      <p:sp>
        <p:nvSpPr>
          <p:cNvPr id="39" name="Text 37"/>
          <p:cNvSpPr txBox="1"/>
          <p:nvPr/>
        </p:nvSpPr>
        <p:spPr>
          <a:xfrm>
            <a:off x="4343400" y="4000500"/>
            <a:ext cx="1280160" cy="237744"/>
          </a:xfrm>
          <a:prstGeom prst="rect">
            <a:avLst/>
          </a:prstGeom>
          <a:noFill/>
          <a:ln/>
        </p:spPr>
        <p:txBody>
          <a:bodyPr wrap="square" lIns="0" tIns="0" rIns="0" bIns="0" rtlCol="0" anchor="t"/>
          <a:lstStyle/>
          <a:p>
            <a:pPr algn="ctr" indent="0" marL="0">
              <a:buNone/>
            </a:pPr>
            <a:r>
              <a:rPr lang="en-US" sz="900" dirty="0">
                <a:solidFill>
                  <a:srgbClr val="8FA3B8"/>
                </a:solidFill>
                <a:latin typeface="Calibri" pitchFamily="34" charset="0"/>
                <a:ea typeface="Calibri" pitchFamily="34" charset="-122"/>
                <a:cs typeface="Calibri" pitchFamily="34" charset="-120"/>
              </a:rPr>
              <a:t>patches, then re-scan</a:t>
            </a:r>
            <a:endParaRPr lang="en-US" sz="900" dirty="0"/>
          </a:p>
        </p:txBody>
      </p:sp>
      <p:sp>
        <p:nvSpPr>
          <p:cNvPr id="40" name="Shape 38"/>
          <p:cNvSpPr/>
          <p:nvPr/>
        </p:nvSpPr>
        <p:spPr>
          <a:xfrm flipV="1">
            <a:off x="4983480" y="1691640"/>
            <a:ext cx="0" cy="182880"/>
          </a:xfrm>
          <a:prstGeom prst="line">
            <a:avLst/>
          </a:prstGeom>
          <a:noFill/>
          <a:ln w="19050">
            <a:solidFill>
              <a:srgbClr val="E5484D"/>
            </a:solidFill>
            <a:prstDash val="solid"/>
            <a:tailEnd type="triangle"/>
          </a:ln>
        </p:spPr>
      </p:sp>
      <p:sp>
        <p:nvSpPr>
          <p:cNvPr id="41" name="Shape 39"/>
          <p:cNvSpPr/>
          <p:nvPr/>
        </p:nvSpPr>
        <p:spPr>
          <a:xfrm>
            <a:off x="4983480" y="3429000"/>
            <a:ext cx="0" cy="274320"/>
          </a:xfrm>
          <a:prstGeom prst="line">
            <a:avLst/>
          </a:prstGeom>
          <a:noFill/>
          <a:ln w="19050">
            <a:solidFill>
              <a:srgbClr val="E5484D"/>
            </a:solidFill>
            <a:prstDash val="solid"/>
            <a:tailEnd type="triangle"/>
          </a:ln>
        </p:spPr>
      </p:sp>
      <p:sp>
        <p:nvSpPr>
          <p:cNvPr id="42" name="Text 40"/>
          <p:cNvSpPr txBox="1"/>
          <p:nvPr/>
        </p:nvSpPr>
        <p:spPr>
          <a:xfrm>
            <a:off x="5029200" y="1691640"/>
            <a:ext cx="548640" cy="182880"/>
          </a:xfrm>
          <a:prstGeom prst="rect">
            <a:avLst/>
          </a:prstGeom>
          <a:noFill/>
          <a:ln/>
        </p:spPr>
        <p:txBody>
          <a:bodyPr wrap="square" lIns="0" tIns="0" rIns="0" bIns="0" rtlCol="0" anchor="ctr"/>
          <a:lstStyle/>
          <a:p>
            <a:pPr indent="0" marL="0">
              <a:buNone/>
            </a:pPr>
            <a:r>
              <a:rPr lang="en-US" sz="900" dirty="0">
                <a:solidFill>
                  <a:srgbClr val="E5484D"/>
                </a:solidFill>
                <a:latin typeface="Calibri" pitchFamily="34" charset="0"/>
                <a:ea typeface="Calibri" pitchFamily="34" charset="-122"/>
                <a:cs typeface="Calibri" pitchFamily="34" charset="-120"/>
              </a:rPr>
              <a:t>fail</a:t>
            </a:r>
            <a:endParaRPr lang="en-US" sz="900" dirty="0"/>
          </a:p>
        </p:txBody>
      </p:sp>
      <p:sp>
        <p:nvSpPr>
          <p:cNvPr id="43" name="Text 41"/>
          <p:cNvSpPr txBox="1"/>
          <p:nvPr/>
        </p:nvSpPr>
        <p:spPr>
          <a:xfrm>
            <a:off x="5029200" y="3456432"/>
            <a:ext cx="640080" cy="182880"/>
          </a:xfrm>
          <a:prstGeom prst="rect">
            <a:avLst/>
          </a:prstGeom>
          <a:noFill/>
          <a:ln/>
        </p:spPr>
        <p:txBody>
          <a:bodyPr wrap="square" lIns="0" tIns="0" rIns="0" bIns="0" rtlCol="0" anchor="ctr"/>
          <a:lstStyle/>
          <a:p>
            <a:pPr indent="0" marL="0">
              <a:buNone/>
            </a:pPr>
            <a:r>
              <a:rPr lang="en-US" sz="900" dirty="0">
                <a:solidFill>
                  <a:srgbClr val="E5484D"/>
                </a:solidFill>
                <a:latin typeface="Calibri" pitchFamily="34" charset="0"/>
                <a:ea typeface="Calibri" pitchFamily="34" charset="-122"/>
                <a:cs typeface="Calibri" pitchFamily="34" charset="-120"/>
              </a:rPr>
              <a:t>blocked</a:t>
            </a:r>
            <a:endParaRPr lang="en-US" sz="900" dirty="0"/>
          </a:p>
        </p:txBody>
      </p:sp>
      <p:sp>
        <p:nvSpPr>
          <p:cNvPr id="44" name="Text 42"/>
          <p:cNvSpPr txBox="1"/>
          <p:nvPr/>
        </p:nvSpPr>
        <p:spPr>
          <a:xfrm>
            <a:off x="548640" y="4389120"/>
            <a:ext cx="8046720" cy="5486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Tests and security run in parallel. A failed gate loops back to the Debugger or the Fix agent (3 retries for tests, 2 for security). When retries run out, the project stops and asks a human.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demo: one bug, caught two ways</a:t>
            </a:r>
            <a:endParaRPr lang="en-US" sz="3000" dirty="0"/>
          </a:p>
        </p:txBody>
      </p:sp>
      <p:sp>
        <p:nvSpPr>
          <p:cNvPr id="3" name="Text 1"/>
          <p:cNvSpPr txBox="1"/>
          <p:nvPr/>
        </p:nvSpPr>
        <p:spPr>
          <a:xfrm>
            <a:off x="548640" y="914400"/>
            <a:ext cx="80467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Real run of  python scripts/demo.py  (colours are the terminal's own)</a:t>
            </a:r>
            <a:endParaRPr lang="en-US" sz="1400" dirty="0"/>
          </a:p>
        </p:txBody>
      </p:sp>
      <p:pic>
        <p:nvPicPr>
          <p:cNvPr id="4" name="Image 0" descr="/tmp/claude-0/deck/assets/terminal_result.png">    </p:cNvPr>
          <p:cNvPicPr>
            <a:picLocks noChangeAspect="1"/>
          </p:cNvPicPr>
          <p:nvPr/>
        </p:nvPicPr>
        <p:blipFill>
          <a:blip r:embed="rId1"/>
          <a:stretch>
            <a:fillRect/>
          </a:stretch>
        </p:blipFill>
        <p:spPr>
          <a:xfrm>
            <a:off x="548640" y="1371600"/>
            <a:ext cx="5120640" cy="2679192"/>
          </a:xfrm>
          <a:prstGeom prst="rect">
            <a:avLst/>
          </a:prstGeom>
        </p:spPr>
      </p:pic>
      <p:sp>
        <p:nvSpPr>
          <p:cNvPr id="5" name="Shape 2"/>
          <p:cNvSpPr/>
          <p:nvPr/>
        </p:nvSpPr>
        <p:spPr>
          <a:xfrm>
            <a:off x="5943600" y="1371600"/>
            <a:ext cx="2743200" cy="868680"/>
          </a:xfrm>
          <a:prstGeom prst="roundRect">
            <a:avLst>
              <a:gd name="adj" fmla="val 10526"/>
            </a:avLst>
          </a:prstGeom>
          <a:solidFill>
            <a:srgbClr val="1F2430"/>
          </a:solidFill>
          <a:ln/>
        </p:spPr>
      </p:sp>
      <p:sp>
        <p:nvSpPr>
          <p:cNvPr id="6" name="Text 3"/>
          <p:cNvSpPr txBox="1"/>
          <p:nvPr/>
        </p:nvSpPr>
        <p:spPr>
          <a:xfrm>
            <a:off x="6035040" y="1371600"/>
            <a:ext cx="2560320" cy="548640"/>
          </a:xfrm>
          <a:prstGeom prst="rect">
            <a:avLst/>
          </a:prstGeom>
          <a:noFill/>
          <a:ln/>
        </p:spPr>
        <p:txBody>
          <a:bodyPr wrap="square" lIns="0" tIns="0" rIns="0" bIns="0" rtlCol="0" anchor="ctr"/>
          <a:lstStyle/>
          <a:p>
            <a:pPr indent="0" marL="0">
              <a:buNone/>
            </a:pPr>
            <a:r>
              <a:rPr lang="en-US" sz="2600" b="1" dirty="0">
                <a:solidFill>
                  <a:srgbClr val="E5484D"/>
                </a:solidFill>
                <a:latin typeface="Cambria" pitchFamily="34" charset="0"/>
                <a:ea typeface="Cambria" pitchFamily="34" charset="-122"/>
                <a:cs typeface="Cambria" pitchFamily="34" charset="-120"/>
              </a:rPr>
              <a:t>17/20</a:t>
            </a:r>
            <a:pPr indent="0" marL="0">
              <a:buNone/>
            </a:pPr>
            <a:r>
              <a:rPr lang="en-US" sz="2600" b="1" dirty="0">
                <a:solidFill>
                  <a:srgbClr val="8FA3B8"/>
                </a:solidFill>
                <a:latin typeface="Cambria" pitchFamily="34" charset="0"/>
                <a:ea typeface="Cambria" pitchFamily="34" charset="-122"/>
                <a:cs typeface="Cambria" pitchFamily="34" charset="-120"/>
              </a:rPr>
              <a:t>  &gt;  </a:t>
            </a:r>
            <a:pPr indent="0" marL="0">
              <a:buNone/>
            </a:pPr>
            <a:r>
              <a:rPr lang="en-US" sz="2600" b="1" dirty="0">
                <a:solidFill>
                  <a:srgbClr val="2FBF71"/>
                </a:solidFill>
                <a:latin typeface="Cambria" pitchFamily="34" charset="0"/>
                <a:ea typeface="Cambria" pitchFamily="34" charset="-122"/>
                <a:cs typeface="Cambria" pitchFamily="34" charset="-120"/>
              </a:rPr>
              <a:t>20/20</a:t>
            </a:r>
            <a:endParaRPr lang="en-US" sz="2600" dirty="0"/>
          </a:p>
        </p:txBody>
      </p:sp>
      <p:sp>
        <p:nvSpPr>
          <p:cNvPr id="7" name="Text 4"/>
          <p:cNvSpPr txBox="1"/>
          <p:nvPr/>
        </p:nvSpPr>
        <p:spPr>
          <a:xfrm>
            <a:off x="6035040" y="1901952"/>
            <a:ext cx="25603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tests, after the Debugger's patch</a:t>
            </a:r>
            <a:endParaRPr lang="en-US" sz="1100" dirty="0"/>
          </a:p>
        </p:txBody>
      </p:sp>
      <p:sp>
        <p:nvSpPr>
          <p:cNvPr id="8" name="Shape 5"/>
          <p:cNvSpPr/>
          <p:nvPr/>
        </p:nvSpPr>
        <p:spPr>
          <a:xfrm>
            <a:off x="5943600" y="2377440"/>
            <a:ext cx="2743200" cy="868680"/>
          </a:xfrm>
          <a:prstGeom prst="roundRect">
            <a:avLst>
              <a:gd name="adj" fmla="val 10526"/>
            </a:avLst>
          </a:prstGeom>
          <a:solidFill>
            <a:srgbClr val="1F2430"/>
          </a:solidFill>
          <a:ln/>
        </p:spPr>
      </p:sp>
      <p:sp>
        <p:nvSpPr>
          <p:cNvPr id="9" name="Text 6"/>
          <p:cNvSpPr txBox="1"/>
          <p:nvPr/>
        </p:nvSpPr>
        <p:spPr>
          <a:xfrm>
            <a:off x="6035040" y="2377440"/>
            <a:ext cx="2560320" cy="548640"/>
          </a:xfrm>
          <a:prstGeom prst="rect">
            <a:avLst/>
          </a:prstGeom>
          <a:noFill/>
          <a:ln/>
        </p:spPr>
        <p:txBody>
          <a:bodyPr wrap="square" lIns="0" tIns="0" rIns="0" bIns="0" rtlCol="0" anchor="ctr"/>
          <a:lstStyle/>
          <a:p>
            <a:pPr indent="0" marL="0">
              <a:buNone/>
            </a:pPr>
            <a:r>
              <a:rPr lang="en-US" sz="2200" b="1" dirty="0">
                <a:solidFill>
                  <a:srgbClr val="E5484D"/>
                </a:solidFill>
                <a:latin typeface="Cambria" pitchFamily="34" charset="0"/>
                <a:ea typeface="Cambria" pitchFamily="34" charset="-122"/>
                <a:cs typeface="Cambria" pitchFamily="34" charset="-120"/>
              </a:rPr>
              <a:t>BLOCKED</a:t>
            </a:r>
            <a:pPr indent="0" marL="0">
              <a:buNone/>
            </a:pPr>
            <a:r>
              <a:rPr lang="en-US" sz="2200" b="1" dirty="0">
                <a:solidFill>
                  <a:srgbClr val="8FA3B8"/>
                </a:solidFill>
                <a:latin typeface="Cambria" pitchFamily="34" charset="0"/>
                <a:ea typeface="Cambria" pitchFamily="34" charset="-122"/>
                <a:cs typeface="Cambria" pitchFamily="34" charset="-120"/>
              </a:rPr>
              <a:t>  &gt;  </a:t>
            </a:r>
            <a:pPr indent="0" marL="0">
              <a:buNone/>
            </a:pPr>
            <a:r>
              <a:rPr lang="en-US" sz="2200" b="1" dirty="0">
                <a:solidFill>
                  <a:srgbClr val="2FBF71"/>
                </a:solidFill>
                <a:latin typeface="Cambria" pitchFamily="34" charset="0"/>
                <a:ea typeface="Cambria" pitchFamily="34" charset="-122"/>
                <a:cs typeface="Cambria" pitchFamily="34" charset="-120"/>
              </a:rPr>
              <a:t>PASS</a:t>
            </a:r>
            <a:endParaRPr lang="en-US" sz="2200" dirty="0"/>
          </a:p>
        </p:txBody>
      </p:sp>
      <p:sp>
        <p:nvSpPr>
          <p:cNvPr id="10" name="Text 7"/>
          <p:cNvSpPr txBox="1"/>
          <p:nvPr/>
        </p:nvSpPr>
        <p:spPr>
          <a:xfrm>
            <a:off x="6035040" y="2907792"/>
            <a:ext cx="2560320" cy="274320"/>
          </a:xfrm>
          <a:prstGeom prst="rect">
            <a:avLst/>
          </a:prstGeom>
          <a:noFill/>
          <a:ln/>
        </p:spPr>
        <p:txBody>
          <a:bodyPr wrap="square" lIns="0" tIns="0" rIns="0" bIns="0" rtlCol="0" anchor="ctr"/>
          <a:lstStyle/>
          <a:p>
            <a:pPr indent="0" marL="0">
              <a:buNone/>
            </a:pPr>
            <a:r>
              <a:rPr lang="en-US" sz="1100" dirty="0">
                <a:solidFill>
                  <a:srgbClr val="8FA3B8"/>
                </a:solidFill>
                <a:latin typeface="Calibri" pitchFamily="34" charset="0"/>
                <a:ea typeface="Calibri" pitchFamily="34" charset="-122"/>
                <a:cs typeface="Calibri" pitchFamily="34" charset="-120"/>
              </a:rPr>
              <a:t>security gate, 1 HIGH finding (CWE-639)</a:t>
            </a:r>
            <a:endParaRPr lang="en-US" sz="1100" dirty="0"/>
          </a:p>
        </p:txBody>
      </p:sp>
      <p:sp>
        <p:nvSpPr>
          <p:cNvPr id="11" name="Shape 8"/>
          <p:cNvSpPr/>
          <p:nvPr/>
        </p:nvSpPr>
        <p:spPr>
          <a:xfrm>
            <a:off x="5943600" y="3383280"/>
            <a:ext cx="2743200" cy="667512"/>
          </a:xfrm>
          <a:prstGeom prst="roundRect">
            <a:avLst>
              <a:gd name="adj" fmla="val 13699"/>
            </a:avLst>
          </a:prstGeom>
          <a:solidFill>
            <a:srgbClr val="1F2430"/>
          </a:solidFill>
          <a:ln/>
        </p:spPr>
      </p:sp>
      <p:sp>
        <p:nvSpPr>
          <p:cNvPr id="12" name="Text 9"/>
          <p:cNvSpPr txBox="1"/>
          <p:nvPr/>
        </p:nvSpPr>
        <p:spPr>
          <a:xfrm>
            <a:off x="6035040" y="3383280"/>
            <a:ext cx="2560320" cy="667512"/>
          </a:xfrm>
          <a:prstGeom prst="rect">
            <a:avLst/>
          </a:prstGeom>
          <a:noFill/>
          <a:ln/>
        </p:spPr>
        <p:txBody>
          <a:bodyPr wrap="square" lIns="0" tIns="0" rIns="0" bIns="0" rtlCol="0" anchor="ctr"/>
          <a:lstStyle/>
          <a:p>
            <a:pPr indent="0" marL="0">
              <a:buNone/>
            </a:pPr>
            <a:r>
              <a:rPr lang="en-US" sz="1400" b="1" dirty="0">
                <a:solidFill>
                  <a:srgbClr val="2FBF71"/>
                </a:solidFill>
                <a:latin typeface="Calibri" pitchFamily="34" charset="0"/>
                <a:ea typeface="Calibri" pitchFamily="34" charset="-122"/>
                <a:cs typeface="Calibri" pitchFamily="34" charset="-120"/>
              </a:rPr>
              <a:t>2 retries, 2 human approvals, RELEASED</a:t>
            </a:r>
            <a:endParaRPr lang="en-US" sz="1400" dirty="0"/>
          </a:p>
        </p:txBody>
      </p:sp>
      <p:sp>
        <p:nvSpPr>
          <p:cNvPr id="13" name="Text 10"/>
          <p:cNvSpPr txBox="1"/>
          <p:nvPr/>
        </p:nvSpPr>
        <p:spPr>
          <a:xfrm>
            <a:off x="548640" y="4251960"/>
            <a:ext cx="8046720" cy="4572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Any user could delete another user's task. The tests and the security scan find it independently; the Debugger patches the real file.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8"/>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14171F"/>
                </a:solidFill>
                <a:latin typeface="Cambria" pitchFamily="34" charset="0"/>
                <a:ea typeface="Cambria" pitchFamily="34" charset="-122"/>
                <a:cs typeface="Cambria" pitchFamily="34" charset="-120"/>
              </a:rPr>
              <a:t>Honest by design: what is real, what is not</a:t>
            </a:r>
            <a:endParaRPr lang="en-US" sz="3000" dirty="0"/>
          </a:p>
        </p:txBody>
      </p:sp>
      <p:sp>
        <p:nvSpPr>
          <p:cNvPr id="3" name="Shape 1"/>
          <p:cNvSpPr/>
          <p:nvPr/>
        </p:nvSpPr>
        <p:spPr>
          <a:xfrm>
            <a:off x="548640" y="1143000"/>
            <a:ext cx="8046720" cy="365760"/>
          </a:xfrm>
          <a:prstGeom prst="roundRect">
            <a:avLst>
              <a:gd name="adj" fmla="val 25000"/>
            </a:avLst>
          </a:prstGeom>
          <a:solidFill>
            <a:srgbClr val="FFFFFF"/>
          </a:solidFill>
          <a:ln/>
        </p:spPr>
      </p:sp>
      <p:sp>
        <p:nvSpPr>
          <p:cNvPr id="4" name="Text 2"/>
          <p:cNvSpPr txBox="1"/>
          <p:nvPr/>
        </p:nvSpPr>
        <p:spPr>
          <a:xfrm>
            <a:off x="777240" y="1143000"/>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Orchestrator, gates, retries, parallel checks, approval</a:t>
            </a:r>
            <a:endParaRPr lang="en-US" sz="1400" dirty="0"/>
          </a:p>
        </p:txBody>
      </p:sp>
      <p:sp>
        <p:nvSpPr>
          <p:cNvPr id="5" name="Shape 3"/>
          <p:cNvSpPr/>
          <p:nvPr/>
        </p:nvSpPr>
        <p:spPr>
          <a:xfrm>
            <a:off x="7223760" y="1170432"/>
            <a:ext cx="1188720" cy="310896"/>
          </a:xfrm>
          <a:prstGeom prst="roundRect">
            <a:avLst>
              <a:gd name="adj" fmla="val 29412"/>
            </a:avLst>
          </a:prstGeom>
          <a:solidFill>
            <a:srgbClr val="2FBF71"/>
          </a:solidFill>
          <a:ln/>
        </p:spPr>
      </p:sp>
      <p:sp>
        <p:nvSpPr>
          <p:cNvPr id="6" name="Text 4"/>
          <p:cNvSpPr txBox="1"/>
          <p:nvPr/>
        </p:nvSpPr>
        <p:spPr>
          <a:xfrm>
            <a:off x="7223760" y="1170432"/>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7" name="Shape 5"/>
          <p:cNvSpPr/>
          <p:nvPr/>
        </p:nvSpPr>
        <p:spPr>
          <a:xfrm>
            <a:off x="548640" y="1572768"/>
            <a:ext cx="8046720" cy="365760"/>
          </a:xfrm>
          <a:prstGeom prst="roundRect">
            <a:avLst>
              <a:gd name="adj" fmla="val 25000"/>
            </a:avLst>
          </a:prstGeom>
          <a:solidFill>
            <a:srgbClr val="FFFFFF"/>
          </a:solidFill>
          <a:ln/>
        </p:spPr>
      </p:sp>
      <p:sp>
        <p:nvSpPr>
          <p:cNvPr id="8" name="Text 6"/>
          <p:cNvSpPr txBox="1"/>
          <p:nvPr/>
        </p:nvSpPr>
        <p:spPr>
          <a:xfrm>
            <a:off x="777240" y="1572768"/>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Testing agent runs the real test suite</a:t>
            </a:r>
            <a:endParaRPr lang="en-US" sz="1400" dirty="0"/>
          </a:p>
        </p:txBody>
      </p:sp>
      <p:sp>
        <p:nvSpPr>
          <p:cNvPr id="9" name="Shape 7"/>
          <p:cNvSpPr/>
          <p:nvPr/>
        </p:nvSpPr>
        <p:spPr>
          <a:xfrm>
            <a:off x="7223760" y="1600200"/>
            <a:ext cx="1188720" cy="310896"/>
          </a:xfrm>
          <a:prstGeom prst="roundRect">
            <a:avLst>
              <a:gd name="adj" fmla="val 29412"/>
            </a:avLst>
          </a:prstGeom>
          <a:solidFill>
            <a:srgbClr val="2FBF71"/>
          </a:solidFill>
          <a:ln/>
        </p:spPr>
      </p:sp>
      <p:sp>
        <p:nvSpPr>
          <p:cNvPr id="10" name="Text 8"/>
          <p:cNvSpPr txBox="1"/>
          <p:nvPr/>
        </p:nvSpPr>
        <p:spPr>
          <a:xfrm>
            <a:off x="7223760" y="1600200"/>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11" name="Shape 9"/>
          <p:cNvSpPr/>
          <p:nvPr/>
        </p:nvSpPr>
        <p:spPr>
          <a:xfrm>
            <a:off x="548640" y="2002536"/>
            <a:ext cx="8046720" cy="365760"/>
          </a:xfrm>
          <a:prstGeom prst="roundRect">
            <a:avLst>
              <a:gd name="adj" fmla="val 25000"/>
            </a:avLst>
          </a:prstGeom>
          <a:solidFill>
            <a:srgbClr val="FFFFFF"/>
          </a:solidFill>
          <a:ln/>
        </p:spPr>
      </p:sp>
      <p:sp>
        <p:nvSpPr>
          <p:cNvPr id="12" name="Text 10"/>
          <p:cNvSpPr txBox="1"/>
          <p:nvPr/>
        </p:nvSpPr>
        <p:spPr>
          <a:xfrm>
            <a:off x="777240" y="2002536"/>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Debugger patches the real file and reruns</a:t>
            </a:r>
            <a:endParaRPr lang="en-US" sz="1400" dirty="0"/>
          </a:p>
        </p:txBody>
      </p:sp>
      <p:sp>
        <p:nvSpPr>
          <p:cNvPr id="13" name="Shape 11"/>
          <p:cNvSpPr/>
          <p:nvPr/>
        </p:nvSpPr>
        <p:spPr>
          <a:xfrm>
            <a:off x="7223760" y="2029968"/>
            <a:ext cx="1188720" cy="310896"/>
          </a:xfrm>
          <a:prstGeom prst="roundRect">
            <a:avLst>
              <a:gd name="adj" fmla="val 29412"/>
            </a:avLst>
          </a:prstGeom>
          <a:solidFill>
            <a:srgbClr val="2FBF71"/>
          </a:solidFill>
          <a:ln/>
        </p:spPr>
      </p:sp>
      <p:sp>
        <p:nvSpPr>
          <p:cNvPr id="14" name="Text 12"/>
          <p:cNvSpPr txBox="1"/>
          <p:nvPr/>
        </p:nvSpPr>
        <p:spPr>
          <a:xfrm>
            <a:off x="7223760" y="2029968"/>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15" name="Shape 13"/>
          <p:cNvSpPr/>
          <p:nvPr/>
        </p:nvSpPr>
        <p:spPr>
          <a:xfrm>
            <a:off x="548640" y="2432304"/>
            <a:ext cx="8046720" cy="365760"/>
          </a:xfrm>
          <a:prstGeom prst="roundRect">
            <a:avLst>
              <a:gd name="adj" fmla="val 25000"/>
            </a:avLst>
          </a:prstGeom>
          <a:solidFill>
            <a:srgbClr val="FFFFFF"/>
          </a:solidFill>
          <a:ln/>
        </p:spPr>
      </p:sp>
      <p:sp>
        <p:nvSpPr>
          <p:cNvPr id="16" name="Text 14"/>
          <p:cNvSpPr txBox="1"/>
          <p:nvPr/>
        </p:nvSpPr>
        <p:spPr>
          <a:xfrm>
            <a:off x="777240" y="2432304"/>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Security agent scans the real file</a:t>
            </a:r>
            <a:endParaRPr lang="en-US" sz="1400" dirty="0"/>
          </a:p>
        </p:txBody>
      </p:sp>
      <p:sp>
        <p:nvSpPr>
          <p:cNvPr id="17" name="Shape 15"/>
          <p:cNvSpPr/>
          <p:nvPr/>
        </p:nvSpPr>
        <p:spPr>
          <a:xfrm>
            <a:off x="7223760" y="2459736"/>
            <a:ext cx="1188720" cy="310896"/>
          </a:xfrm>
          <a:prstGeom prst="roundRect">
            <a:avLst>
              <a:gd name="adj" fmla="val 29412"/>
            </a:avLst>
          </a:prstGeom>
          <a:solidFill>
            <a:srgbClr val="2FBF71"/>
          </a:solidFill>
          <a:ln/>
        </p:spPr>
      </p:sp>
      <p:sp>
        <p:nvSpPr>
          <p:cNvPr id="18" name="Text 16"/>
          <p:cNvSpPr txBox="1"/>
          <p:nvPr/>
        </p:nvSpPr>
        <p:spPr>
          <a:xfrm>
            <a:off x="7223760" y="2459736"/>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19" name="Shape 17"/>
          <p:cNvSpPr/>
          <p:nvPr/>
        </p:nvSpPr>
        <p:spPr>
          <a:xfrm>
            <a:off x="548640" y="2862072"/>
            <a:ext cx="8046720" cy="365760"/>
          </a:xfrm>
          <a:prstGeom prst="roundRect">
            <a:avLst>
              <a:gd name="adj" fmla="val 25000"/>
            </a:avLst>
          </a:prstGeom>
          <a:solidFill>
            <a:srgbClr val="FFFFFF"/>
          </a:solidFill>
          <a:ln/>
        </p:spPr>
      </p:sp>
      <p:sp>
        <p:nvSpPr>
          <p:cNvPr id="20" name="Text 18"/>
          <p:cNvSpPr txBox="1"/>
          <p:nvPr/>
        </p:nvSpPr>
        <p:spPr>
          <a:xfrm>
            <a:off x="777240" y="2862072"/>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Backend API: start, live status, approve, insights</a:t>
            </a:r>
            <a:endParaRPr lang="en-US" sz="1400" dirty="0"/>
          </a:p>
        </p:txBody>
      </p:sp>
      <p:sp>
        <p:nvSpPr>
          <p:cNvPr id="21" name="Shape 19"/>
          <p:cNvSpPr/>
          <p:nvPr/>
        </p:nvSpPr>
        <p:spPr>
          <a:xfrm>
            <a:off x="7223760" y="2889504"/>
            <a:ext cx="1188720" cy="310896"/>
          </a:xfrm>
          <a:prstGeom prst="roundRect">
            <a:avLst>
              <a:gd name="adj" fmla="val 29412"/>
            </a:avLst>
          </a:prstGeom>
          <a:solidFill>
            <a:srgbClr val="2FBF71"/>
          </a:solidFill>
          <a:ln/>
        </p:spPr>
      </p:sp>
      <p:sp>
        <p:nvSpPr>
          <p:cNvPr id="22" name="Text 20"/>
          <p:cNvSpPr txBox="1"/>
          <p:nvPr/>
        </p:nvSpPr>
        <p:spPr>
          <a:xfrm>
            <a:off x="7223760" y="2889504"/>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23" name="Shape 21"/>
          <p:cNvSpPr/>
          <p:nvPr/>
        </p:nvSpPr>
        <p:spPr>
          <a:xfrm>
            <a:off x="548640" y="3291840"/>
            <a:ext cx="8046720" cy="365760"/>
          </a:xfrm>
          <a:prstGeom prst="roundRect">
            <a:avLst>
              <a:gd name="adj" fmla="val 25000"/>
            </a:avLst>
          </a:prstGeom>
          <a:solidFill>
            <a:srgbClr val="FFFFFF"/>
          </a:solidFill>
          <a:ln/>
        </p:spPr>
      </p:sp>
      <p:sp>
        <p:nvSpPr>
          <p:cNvPr id="24" name="Text 22"/>
          <p:cNvSpPr txBox="1"/>
          <p:nvPr/>
        </p:nvSpPr>
        <p:spPr>
          <a:xfrm>
            <a:off x="777240" y="3291840"/>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Memory and metrics recorded from every run</a:t>
            </a:r>
            <a:endParaRPr lang="en-US" sz="1400" dirty="0"/>
          </a:p>
        </p:txBody>
      </p:sp>
      <p:sp>
        <p:nvSpPr>
          <p:cNvPr id="25" name="Shape 23"/>
          <p:cNvSpPr/>
          <p:nvPr/>
        </p:nvSpPr>
        <p:spPr>
          <a:xfrm>
            <a:off x="7223760" y="3319272"/>
            <a:ext cx="1188720" cy="310896"/>
          </a:xfrm>
          <a:prstGeom prst="roundRect">
            <a:avLst>
              <a:gd name="adj" fmla="val 29412"/>
            </a:avLst>
          </a:prstGeom>
          <a:solidFill>
            <a:srgbClr val="2FBF71"/>
          </a:solidFill>
          <a:ln/>
        </p:spPr>
      </p:sp>
      <p:sp>
        <p:nvSpPr>
          <p:cNvPr id="26" name="Text 24"/>
          <p:cNvSpPr txBox="1"/>
          <p:nvPr/>
        </p:nvSpPr>
        <p:spPr>
          <a:xfrm>
            <a:off x="7223760" y="3319272"/>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REAL</a:t>
            </a:r>
            <a:endParaRPr lang="en-US" sz="1100" dirty="0"/>
          </a:p>
        </p:txBody>
      </p:sp>
      <p:sp>
        <p:nvSpPr>
          <p:cNvPr id="27" name="Shape 25"/>
          <p:cNvSpPr/>
          <p:nvPr/>
        </p:nvSpPr>
        <p:spPr>
          <a:xfrm>
            <a:off x="548640" y="3721608"/>
            <a:ext cx="8046720" cy="365760"/>
          </a:xfrm>
          <a:prstGeom prst="roundRect">
            <a:avLst>
              <a:gd name="adj" fmla="val 25000"/>
            </a:avLst>
          </a:prstGeom>
          <a:solidFill>
            <a:srgbClr val="FFFFFF"/>
          </a:solidFill>
          <a:ln/>
        </p:spPr>
      </p:sp>
      <p:sp>
        <p:nvSpPr>
          <p:cNvPr id="28" name="Text 26"/>
          <p:cNvSpPr txBox="1"/>
          <p:nvPr/>
        </p:nvSpPr>
        <p:spPr>
          <a:xfrm>
            <a:off x="777240" y="3721608"/>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Plan agent replays a saved IBM Bob Plan session</a:t>
            </a:r>
            <a:endParaRPr lang="en-US" sz="1400" dirty="0"/>
          </a:p>
        </p:txBody>
      </p:sp>
      <p:sp>
        <p:nvSpPr>
          <p:cNvPr id="29" name="Shape 27"/>
          <p:cNvSpPr/>
          <p:nvPr/>
        </p:nvSpPr>
        <p:spPr>
          <a:xfrm>
            <a:off x="7223760" y="3749040"/>
            <a:ext cx="1188720" cy="310896"/>
          </a:xfrm>
          <a:prstGeom prst="roundRect">
            <a:avLst>
              <a:gd name="adj" fmla="val 29412"/>
            </a:avLst>
          </a:prstGeom>
          <a:solidFill>
            <a:srgbClr val="3FC1C9"/>
          </a:solidFill>
          <a:ln/>
        </p:spPr>
      </p:sp>
      <p:sp>
        <p:nvSpPr>
          <p:cNvPr id="30" name="Text 28"/>
          <p:cNvSpPr txBox="1"/>
          <p:nvPr/>
        </p:nvSpPr>
        <p:spPr>
          <a:xfrm>
            <a:off x="7223760" y="3749040"/>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REPLAY</a:t>
            </a:r>
            <a:endParaRPr lang="en-US" sz="1100" dirty="0"/>
          </a:p>
        </p:txBody>
      </p:sp>
      <p:sp>
        <p:nvSpPr>
          <p:cNvPr id="31" name="Shape 29"/>
          <p:cNvSpPr/>
          <p:nvPr/>
        </p:nvSpPr>
        <p:spPr>
          <a:xfrm>
            <a:off x="548640" y="4151376"/>
            <a:ext cx="8046720" cy="365760"/>
          </a:xfrm>
          <a:prstGeom prst="roundRect">
            <a:avLst>
              <a:gd name="adj" fmla="val 25000"/>
            </a:avLst>
          </a:prstGeom>
          <a:solidFill>
            <a:srgbClr val="FFFFFF"/>
          </a:solidFill>
          <a:ln/>
        </p:spPr>
      </p:sp>
      <p:sp>
        <p:nvSpPr>
          <p:cNvPr id="32" name="Text 30"/>
          <p:cNvSpPr txBox="1"/>
          <p:nvPr/>
        </p:nvSpPr>
        <p:spPr>
          <a:xfrm>
            <a:off x="777240" y="4151376"/>
            <a:ext cx="6035040" cy="365760"/>
          </a:xfrm>
          <a:prstGeom prst="rect">
            <a:avLst/>
          </a:prstGeom>
          <a:noFill/>
          <a:ln/>
        </p:spPr>
        <p:txBody>
          <a:bodyPr wrap="square" lIns="0" tIns="0" rIns="0" bIns="0" rtlCol="0" anchor="ctr"/>
          <a:lstStyle/>
          <a:p>
            <a:pPr indent="0" marL="0">
              <a:buNone/>
            </a:pPr>
            <a:r>
              <a:rPr lang="en-US" sz="1400" dirty="0">
                <a:solidFill>
                  <a:srgbClr val="14171F"/>
                </a:solidFill>
                <a:latin typeface="Calibri" pitchFamily="34" charset="0"/>
                <a:ea typeface="Calibri" pitchFamily="34" charset="-122"/>
                <a:cs typeface="Calibri" pitchFamily="34" charset="-120"/>
              </a:rPr>
              <a:t>Build and Fix agents</a:t>
            </a:r>
            <a:endParaRPr lang="en-US" sz="1400" dirty="0"/>
          </a:p>
        </p:txBody>
      </p:sp>
      <p:sp>
        <p:nvSpPr>
          <p:cNvPr id="33" name="Shape 31"/>
          <p:cNvSpPr/>
          <p:nvPr/>
        </p:nvSpPr>
        <p:spPr>
          <a:xfrm>
            <a:off x="7223760" y="4178808"/>
            <a:ext cx="1188720" cy="310896"/>
          </a:xfrm>
          <a:prstGeom prst="roundRect">
            <a:avLst>
              <a:gd name="adj" fmla="val 29412"/>
            </a:avLst>
          </a:prstGeom>
          <a:solidFill>
            <a:srgbClr val="F5B83D"/>
          </a:solidFill>
          <a:ln/>
        </p:spPr>
      </p:sp>
      <p:sp>
        <p:nvSpPr>
          <p:cNvPr id="34" name="Text 32"/>
          <p:cNvSpPr txBox="1"/>
          <p:nvPr/>
        </p:nvSpPr>
        <p:spPr>
          <a:xfrm>
            <a:off x="7223760" y="4178808"/>
            <a:ext cx="1188720" cy="310896"/>
          </a:xfrm>
          <a:prstGeom prst="rect">
            <a:avLst/>
          </a:prstGeom>
          <a:noFill/>
          <a:ln/>
        </p:spPr>
        <p:txBody>
          <a:bodyPr wrap="square" lIns="0" tIns="0" rIns="0" bIns="0" rtlCol="0" anchor="ctr"/>
          <a:lstStyle/>
          <a:p>
            <a:pPr algn="ctr" indent="0" marL="0">
              <a:buNone/>
            </a:pPr>
            <a:r>
              <a:rPr lang="en-US" sz="1100" b="1" dirty="0">
                <a:solidFill>
                  <a:srgbClr val="14171F"/>
                </a:solidFill>
                <a:latin typeface="Calibri" pitchFamily="34" charset="0"/>
                <a:ea typeface="Calibri" pitchFamily="34" charset="-122"/>
                <a:cs typeface="Calibri" pitchFamily="34" charset="-120"/>
              </a:rPr>
              <a:t>STUB</a:t>
            </a:r>
            <a:endParaRPr lang="en-US" sz="1100" dirty="0"/>
          </a:p>
        </p:txBody>
      </p:sp>
      <p:sp>
        <p:nvSpPr>
          <p:cNvPr id="35" name="Text 33"/>
          <p:cNvSpPr txBox="1"/>
          <p:nvPr/>
        </p:nvSpPr>
        <p:spPr>
          <a:xfrm>
            <a:off x="548640" y="4754880"/>
            <a:ext cx="8046720" cy="274320"/>
          </a:xfrm>
          <a:prstGeom prst="rect">
            <a:avLst/>
          </a:prstGeom>
          <a:noFill/>
          <a:ln/>
        </p:spPr>
        <p:txBody>
          <a:bodyPr wrap="square" lIns="0" tIns="0" rIns="0" bIns="0" rtlCol="0" anchor="ctr"/>
          <a:lstStyle/>
          <a:p>
            <a:pPr indent="0" marL="0">
              <a:buNone/>
            </a:pPr>
            <a:r>
              <a:rPr lang="en-US" sz="1000" dirty="0">
                <a:solidFill>
                  <a:srgbClr val="5B6675"/>
                </a:solidFill>
                <a:latin typeface="Calibri" pitchFamily="34" charset="0"/>
                <a:ea typeface="Calibri" pitchFamily="34" charset="-122"/>
                <a:cs typeface="Calibri" pitchFamily="34" charset="-120"/>
              </a:rPr>
              <a:t>The demo and the dashboard label every agent REAL, REPLAY or STUB. We never present a simulated run as Bob's work.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8"/>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14171F"/>
                </a:solidFill>
                <a:latin typeface="Cambria" pitchFamily="34" charset="0"/>
                <a:ea typeface="Cambria" pitchFamily="34" charset="-122"/>
                <a:cs typeface="Cambria" pitchFamily="34" charset="-120"/>
              </a:rPr>
              <a:t>How we used IBM Bob</a:t>
            </a:r>
            <a:endParaRPr lang="en-US" sz="3000" dirty="0"/>
          </a:p>
        </p:txBody>
      </p:sp>
      <p:sp>
        <p:nvSpPr>
          <p:cNvPr id="3" name="Text 1"/>
          <p:cNvSpPr txBox="1"/>
          <p:nvPr/>
        </p:nvSpPr>
        <p:spPr>
          <a:xfrm>
            <a:off x="548640" y="914400"/>
            <a:ext cx="80467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Every member used Bob for a real part of the build. 21 task screenshots are in bob_sessions/</a:t>
            </a:r>
            <a:endParaRPr lang="en-US" sz="1400" dirty="0"/>
          </a:p>
        </p:txBody>
      </p:sp>
      <p:sp>
        <p:nvSpPr>
          <p:cNvPr id="4" name="Shape 2"/>
          <p:cNvSpPr/>
          <p:nvPr/>
        </p:nvSpPr>
        <p:spPr>
          <a:xfrm>
            <a:off x="548640" y="1371600"/>
            <a:ext cx="2514600" cy="1600200"/>
          </a:xfrm>
          <a:prstGeom prst="roundRect">
            <a:avLst>
              <a:gd name="adj" fmla="val 5714"/>
            </a:avLst>
          </a:prstGeom>
          <a:solidFill>
            <a:srgbClr val="FFFFFF"/>
          </a:solidFill>
          <a:ln/>
          <a:effectLst>
            <a:outerShdw sx="100000" sy="100000" kx="0" ky="0" algn="bl" rotWithShape="0" blurRad="101600" dist="25400" dir="5400000">
              <a:srgbClr val="000000">
                <a:alpha val="12000"/>
              </a:srgbClr>
            </a:outerShdw>
          </a:effectLst>
        </p:spPr>
      </p:sp>
      <p:sp>
        <p:nvSpPr>
          <p:cNvPr id="5" name="Shape 3"/>
          <p:cNvSpPr/>
          <p:nvPr/>
        </p:nvSpPr>
        <p:spPr>
          <a:xfrm>
            <a:off x="731520" y="1508760"/>
            <a:ext cx="384048" cy="384048"/>
          </a:xfrm>
          <a:prstGeom prst="ellipse">
            <a:avLst/>
          </a:prstGeom>
          <a:solidFill>
            <a:srgbClr val="FF7A2F"/>
          </a:solidFill>
          <a:ln/>
        </p:spPr>
      </p:sp>
      <p:sp>
        <p:nvSpPr>
          <p:cNvPr id="6" name="Text 4"/>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207008" y="1508760"/>
            <a:ext cx="1783080" cy="384048"/>
          </a:xfrm>
          <a:prstGeom prst="rect">
            <a:avLst/>
          </a:prstGeom>
          <a:noFill/>
          <a:ln/>
        </p:spPr>
        <p:txBody>
          <a:bodyPr wrap="square" lIns="0" tIns="0" rIns="0" bIns="0" rtlCol="0" anchor="ctr"/>
          <a:lstStyle/>
          <a:p>
            <a:pPr indent="0" marL="0">
              <a:buNone/>
            </a:pPr>
            <a:r>
              <a:rPr lang="en-US" sz="1500" b="1" dirty="0">
                <a:solidFill>
                  <a:srgbClr val="14171F"/>
                </a:solidFill>
                <a:latin typeface="Cambria" pitchFamily="34" charset="0"/>
                <a:ea typeface="Cambria" pitchFamily="34" charset="-122"/>
                <a:cs typeface="Cambria" pitchFamily="34" charset="-120"/>
              </a:rPr>
              <a:t>Plan mode</a:t>
            </a:r>
            <a:endParaRPr lang="en-US" sz="1500" dirty="0"/>
          </a:p>
        </p:txBody>
      </p:sp>
      <p:sp>
        <p:nvSpPr>
          <p:cNvPr id="8" name="Text 6"/>
          <p:cNvSpPr txBox="1"/>
          <p:nvPr/>
        </p:nvSpPr>
        <p:spPr>
          <a:xfrm>
            <a:off x="731520" y="1965960"/>
            <a:ext cx="2194560" cy="960120"/>
          </a:xfrm>
          <a:prstGeom prst="rect">
            <a:avLst/>
          </a:prstGeom>
          <a:noFill/>
          <a:ln/>
        </p:spPr>
        <p:txBody>
          <a:bodyPr wrap="square" lIns="0" tIns="0" rIns="0" bIns="0" rtlCol="0" anchor="t"/>
          <a:lstStyle/>
          <a:p>
            <a:pPr indent="0" marL="0">
              <a:buNone/>
            </a:pPr>
            <a:r>
              <a:rPr lang="en-US" sz="1100" dirty="0">
                <a:solidFill>
                  <a:srgbClr val="5B6675"/>
                </a:solidFill>
                <a:latin typeface="Calibri" pitchFamily="34" charset="0"/>
                <a:ea typeface="Calibri" pitchFamily="34" charset="-122"/>
                <a:cs typeface="Calibri" pitchFamily="34" charset="-120"/>
              </a:rPr>
              <a:t>Architecture and state machine (Leader). Requirements, user stories and decisions (Fati).</a:t>
            </a:r>
            <a:endParaRPr lang="en-US" sz="1100" dirty="0"/>
          </a:p>
        </p:txBody>
      </p:sp>
      <p:sp>
        <p:nvSpPr>
          <p:cNvPr id="9" name="Shape 7"/>
          <p:cNvSpPr/>
          <p:nvPr/>
        </p:nvSpPr>
        <p:spPr>
          <a:xfrm>
            <a:off x="3291840" y="1371600"/>
            <a:ext cx="2514600" cy="1600200"/>
          </a:xfrm>
          <a:prstGeom prst="roundRect">
            <a:avLst>
              <a:gd name="adj" fmla="val 5714"/>
            </a:avLst>
          </a:prstGeom>
          <a:solidFill>
            <a:srgbClr val="FFFFFF"/>
          </a:solidFill>
          <a:ln/>
          <a:effectLst>
            <a:outerShdw sx="100000" sy="100000" kx="0" ky="0" algn="bl" rotWithShape="0" blurRad="101600" dist="25400" dir="5400000">
              <a:srgbClr val="000000">
                <a:alpha val="12000"/>
              </a:srgbClr>
            </a:outerShdw>
          </a:effectLst>
        </p:spPr>
      </p:sp>
      <p:sp>
        <p:nvSpPr>
          <p:cNvPr id="10" name="Shape 8"/>
          <p:cNvSpPr/>
          <p:nvPr/>
        </p:nvSpPr>
        <p:spPr>
          <a:xfrm>
            <a:off x="3474720" y="1508760"/>
            <a:ext cx="384048" cy="384048"/>
          </a:xfrm>
          <a:prstGeom prst="ellipse">
            <a:avLst/>
          </a:prstGeom>
          <a:solidFill>
            <a:srgbClr val="3FC1C9"/>
          </a:solidFill>
          <a:ln/>
        </p:spPr>
      </p:sp>
      <p:sp>
        <p:nvSpPr>
          <p:cNvPr id="11" name="Text 9"/>
          <p:cNvSpPr txBox="1"/>
          <p:nvPr/>
        </p:nvSpPr>
        <p:spPr>
          <a:xfrm>
            <a:off x="34747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3950208" y="1508760"/>
            <a:ext cx="1783080" cy="384048"/>
          </a:xfrm>
          <a:prstGeom prst="rect">
            <a:avLst/>
          </a:prstGeom>
          <a:noFill/>
          <a:ln/>
        </p:spPr>
        <p:txBody>
          <a:bodyPr wrap="square" lIns="0" tIns="0" rIns="0" bIns="0" rtlCol="0" anchor="ctr"/>
          <a:lstStyle/>
          <a:p>
            <a:pPr indent="0" marL="0">
              <a:buNone/>
            </a:pPr>
            <a:r>
              <a:rPr lang="en-US" sz="1500" b="1" dirty="0">
                <a:solidFill>
                  <a:srgbClr val="14171F"/>
                </a:solidFill>
                <a:latin typeface="Cambria" pitchFamily="34" charset="0"/>
                <a:ea typeface="Cambria" pitchFamily="34" charset="-122"/>
                <a:cs typeface="Cambria" pitchFamily="34" charset="-120"/>
              </a:rPr>
              <a:t>Agent mode</a:t>
            </a:r>
            <a:endParaRPr lang="en-US" sz="1500" dirty="0"/>
          </a:p>
        </p:txBody>
      </p:sp>
      <p:sp>
        <p:nvSpPr>
          <p:cNvPr id="13" name="Text 11"/>
          <p:cNvSpPr txBox="1"/>
          <p:nvPr/>
        </p:nvSpPr>
        <p:spPr>
          <a:xfrm>
            <a:off x="3474720" y="1965960"/>
            <a:ext cx="2194560" cy="960120"/>
          </a:xfrm>
          <a:prstGeom prst="rect">
            <a:avLst/>
          </a:prstGeom>
          <a:noFill/>
          <a:ln/>
        </p:spPr>
        <p:txBody>
          <a:bodyPr wrap="square" lIns="0" tIns="0" rIns="0" bIns="0" rtlCol="0" anchor="t"/>
          <a:lstStyle/>
          <a:p>
            <a:pPr indent="0" marL="0">
              <a:buNone/>
            </a:pPr>
            <a:r>
              <a:rPr lang="en-US" sz="1100" dirty="0">
                <a:solidFill>
                  <a:srgbClr val="5B6675"/>
                </a:solidFill>
                <a:latin typeface="Calibri" pitchFamily="34" charset="0"/>
                <a:ea typeface="Calibri" pitchFamily="34" charset="-122"/>
                <a:cs typeface="Calibri" pitchFamily="34" charset="-120"/>
              </a:rPr>
              <a:t>Contracts and orchestrator (Leader). Testing and debug agents (Manar). Memory and metrics (Safa). Security agent (Haytam).</a:t>
            </a:r>
            <a:endParaRPr lang="en-US" sz="1100" dirty="0"/>
          </a:p>
        </p:txBody>
      </p:sp>
      <p:sp>
        <p:nvSpPr>
          <p:cNvPr id="14" name="Shape 12"/>
          <p:cNvSpPr/>
          <p:nvPr/>
        </p:nvSpPr>
        <p:spPr>
          <a:xfrm>
            <a:off x="6035040" y="1371600"/>
            <a:ext cx="2514600" cy="1600200"/>
          </a:xfrm>
          <a:prstGeom prst="roundRect">
            <a:avLst>
              <a:gd name="adj" fmla="val 5714"/>
            </a:avLst>
          </a:prstGeom>
          <a:solidFill>
            <a:srgbClr val="FFFFFF"/>
          </a:solidFill>
          <a:ln/>
          <a:effectLst>
            <a:outerShdw sx="100000" sy="100000" kx="0" ky="0" algn="bl" rotWithShape="0" blurRad="101600" dist="25400" dir="5400000">
              <a:srgbClr val="000000">
                <a:alpha val="12000"/>
              </a:srgbClr>
            </a:outerShdw>
          </a:effectLst>
        </p:spPr>
      </p:sp>
      <p:sp>
        <p:nvSpPr>
          <p:cNvPr id="15" name="Shape 13"/>
          <p:cNvSpPr/>
          <p:nvPr/>
        </p:nvSpPr>
        <p:spPr>
          <a:xfrm>
            <a:off x="6217920" y="1508760"/>
            <a:ext cx="384048" cy="384048"/>
          </a:xfrm>
          <a:prstGeom prst="ellipse">
            <a:avLst/>
          </a:prstGeom>
          <a:solidFill>
            <a:srgbClr val="2FBF71"/>
          </a:solidFill>
          <a:ln/>
        </p:spPr>
      </p:sp>
      <p:sp>
        <p:nvSpPr>
          <p:cNvPr id="16" name="Text 14"/>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6693408" y="1508760"/>
            <a:ext cx="1783080" cy="384048"/>
          </a:xfrm>
          <a:prstGeom prst="rect">
            <a:avLst/>
          </a:prstGeom>
          <a:noFill/>
          <a:ln/>
        </p:spPr>
        <p:txBody>
          <a:bodyPr wrap="square" lIns="0" tIns="0" rIns="0" bIns="0" rtlCol="0" anchor="ctr"/>
          <a:lstStyle/>
          <a:p>
            <a:pPr indent="0" marL="0">
              <a:buNone/>
            </a:pPr>
            <a:r>
              <a:rPr lang="en-US" sz="1500" b="1" dirty="0">
                <a:solidFill>
                  <a:srgbClr val="14171F"/>
                </a:solidFill>
                <a:latin typeface="Cambria" pitchFamily="34" charset="0"/>
                <a:ea typeface="Cambria" pitchFamily="34" charset="-122"/>
                <a:cs typeface="Cambria" pitchFamily="34" charset="-120"/>
              </a:rPr>
              <a:t>Task list and review</a:t>
            </a:r>
            <a:endParaRPr lang="en-US" sz="1500" dirty="0"/>
          </a:p>
        </p:txBody>
      </p:sp>
      <p:sp>
        <p:nvSpPr>
          <p:cNvPr id="18" name="Text 16"/>
          <p:cNvSpPr txBox="1"/>
          <p:nvPr/>
        </p:nvSpPr>
        <p:spPr>
          <a:xfrm>
            <a:off x="6217920" y="1965960"/>
            <a:ext cx="2194560" cy="960120"/>
          </a:xfrm>
          <a:prstGeom prst="rect">
            <a:avLst/>
          </a:prstGeom>
          <a:noFill/>
          <a:ln/>
        </p:spPr>
        <p:txBody>
          <a:bodyPr wrap="square" lIns="0" tIns="0" rIns="0" bIns="0" rtlCol="0" anchor="t"/>
          <a:lstStyle/>
          <a:p>
            <a:pPr indent="0" marL="0">
              <a:buNone/>
            </a:pPr>
            <a:r>
              <a:rPr lang="en-US" sz="1100" dirty="0">
                <a:solidFill>
                  <a:srgbClr val="5B6675"/>
                </a:solidFill>
                <a:latin typeface="Calibri" pitchFamily="34" charset="0"/>
                <a:ea typeface="Calibri" pitchFamily="34" charset="-122"/>
                <a:cs typeface="Calibri" pitchFamily="34" charset="-120"/>
              </a:rPr>
              <a:t>Long tasks tracked with Bob's to-do list (13/21 on the orchestrator). Bob reviewed the memory APIs (Safa).</a:t>
            </a:r>
            <a:endParaRPr lang="en-US" sz="1100" dirty="0"/>
          </a:p>
        </p:txBody>
      </p:sp>
      <p:sp>
        <p:nvSpPr>
          <p:cNvPr id="19" name="Shape 17"/>
          <p:cNvSpPr/>
          <p:nvPr/>
        </p:nvSpPr>
        <p:spPr>
          <a:xfrm>
            <a:off x="548640" y="3200400"/>
            <a:ext cx="1261872" cy="960120"/>
          </a:xfrm>
          <a:prstGeom prst="roundRect">
            <a:avLst>
              <a:gd name="adj" fmla="val 9524"/>
            </a:avLst>
          </a:prstGeom>
          <a:solidFill>
            <a:srgbClr val="FFFFFF"/>
          </a:solidFill>
          <a:ln/>
        </p:spPr>
      </p:sp>
      <p:pic>
        <p:nvPicPr>
          <p:cNvPr id="20" name="Image 0" descr="/tmp/claude-0/deck/assets/thumb1.png">    </p:cNvPr>
          <p:cNvPicPr>
            <a:picLocks noChangeAspect="1"/>
          </p:cNvPicPr>
          <p:nvPr/>
        </p:nvPicPr>
        <p:blipFill>
          <a:blip r:embed="rId1"/>
          <a:stretch>
            <a:fillRect/>
          </a:stretch>
        </p:blipFill>
        <p:spPr>
          <a:xfrm>
            <a:off x="594360" y="3246120"/>
            <a:ext cx="1170432" cy="877824"/>
          </a:xfrm>
          <a:prstGeom prst="rect">
            <a:avLst/>
          </a:prstGeom>
        </p:spPr>
      </p:pic>
      <p:sp>
        <p:nvSpPr>
          <p:cNvPr id="21" name="Shape 18"/>
          <p:cNvSpPr/>
          <p:nvPr/>
        </p:nvSpPr>
        <p:spPr>
          <a:xfrm>
            <a:off x="1901952" y="3200400"/>
            <a:ext cx="1261872" cy="960120"/>
          </a:xfrm>
          <a:prstGeom prst="roundRect">
            <a:avLst>
              <a:gd name="adj" fmla="val 9524"/>
            </a:avLst>
          </a:prstGeom>
          <a:solidFill>
            <a:srgbClr val="FFFFFF"/>
          </a:solidFill>
          <a:ln/>
        </p:spPr>
      </p:sp>
      <p:pic>
        <p:nvPicPr>
          <p:cNvPr id="22" name="Image 1" descr="/tmp/claude-0/deck/assets/thumb2.png">    </p:cNvPr>
          <p:cNvPicPr>
            <a:picLocks noChangeAspect="1"/>
          </p:cNvPicPr>
          <p:nvPr/>
        </p:nvPicPr>
        <p:blipFill>
          <a:blip r:embed="rId2"/>
          <a:stretch>
            <a:fillRect/>
          </a:stretch>
        </p:blipFill>
        <p:spPr>
          <a:xfrm>
            <a:off x="1947672" y="3246120"/>
            <a:ext cx="1170432" cy="877824"/>
          </a:xfrm>
          <a:prstGeom prst="rect">
            <a:avLst/>
          </a:prstGeom>
        </p:spPr>
      </p:pic>
      <p:sp>
        <p:nvSpPr>
          <p:cNvPr id="23" name="Shape 19"/>
          <p:cNvSpPr/>
          <p:nvPr/>
        </p:nvSpPr>
        <p:spPr>
          <a:xfrm>
            <a:off x="3255264" y="3200400"/>
            <a:ext cx="1261872" cy="960120"/>
          </a:xfrm>
          <a:prstGeom prst="roundRect">
            <a:avLst>
              <a:gd name="adj" fmla="val 9524"/>
            </a:avLst>
          </a:prstGeom>
          <a:solidFill>
            <a:srgbClr val="FFFFFF"/>
          </a:solidFill>
          <a:ln/>
        </p:spPr>
      </p:sp>
      <p:pic>
        <p:nvPicPr>
          <p:cNvPr id="24" name="Image 2" descr="/tmp/claude-0/deck/assets/thumb3.png">    </p:cNvPr>
          <p:cNvPicPr>
            <a:picLocks noChangeAspect="1"/>
          </p:cNvPicPr>
          <p:nvPr/>
        </p:nvPicPr>
        <p:blipFill>
          <a:blip r:embed="rId3"/>
          <a:stretch>
            <a:fillRect/>
          </a:stretch>
        </p:blipFill>
        <p:spPr>
          <a:xfrm>
            <a:off x="3300984" y="3246120"/>
            <a:ext cx="1170432" cy="877824"/>
          </a:xfrm>
          <a:prstGeom prst="rect">
            <a:avLst/>
          </a:prstGeom>
        </p:spPr>
      </p:pic>
      <p:sp>
        <p:nvSpPr>
          <p:cNvPr id="25" name="Shape 20"/>
          <p:cNvSpPr/>
          <p:nvPr/>
        </p:nvSpPr>
        <p:spPr>
          <a:xfrm>
            <a:off x="4608576" y="3200400"/>
            <a:ext cx="1261872" cy="960120"/>
          </a:xfrm>
          <a:prstGeom prst="roundRect">
            <a:avLst>
              <a:gd name="adj" fmla="val 9524"/>
            </a:avLst>
          </a:prstGeom>
          <a:solidFill>
            <a:srgbClr val="FFFFFF"/>
          </a:solidFill>
          <a:ln/>
        </p:spPr>
      </p:sp>
      <p:pic>
        <p:nvPicPr>
          <p:cNvPr id="26" name="Image 3" descr="/tmp/claude-0/deck/assets/thumb4.png">    </p:cNvPr>
          <p:cNvPicPr>
            <a:picLocks noChangeAspect="1"/>
          </p:cNvPicPr>
          <p:nvPr/>
        </p:nvPicPr>
        <p:blipFill>
          <a:blip r:embed="rId4"/>
          <a:stretch>
            <a:fillRect/>
          </a:stretch>
        </p:blipFill>
        <p:spPr>
          <a:xfrm>
            <a:off x="4654296" y="3246120"/>
            <a:ext cx="1170432" cy="877824"/>
          </a:xfrm>
          <a:prstGeom prst="rect">
            <a:avLst/>
          </a:prstGeom>
        </p:spPr>
      </p:pic>
      <p:sp>
        <p:nvSpPr>
          <p:cNvPr id="27" name="Shape 21"/>
          <p:cNvSpPr/>
          <p:nvPr/>
        </p:nvSpPr>
        <p:spPr>
          <a:xfrm>
            <a:off x="5961888" y="3200400"/>
            <a:ext cx="1261872" cy="960120"/>
          </a:xfrm>
          <a:prstGeom prst="roundRect">
            <a:avLst>
              <a:gd name="adj" fmla="val 9524"/>
            </a:avLst>
          </a:prstGeom>
          <a:solidFill>
            <a:srgbClr val="FFFFFF"/>
          </a:solidFill>
          <a:ln/>
        </p:spPr>
      </p:sp>
      <p:pic>
        <p:nvPicPr>
          <p:cNvPr id="28" name="Image 4" descr="/tmp/claude-0/deck/assets/thumb5.png">    </p:cNvPr>
          <p:cNvPicPr>
            <a:picLocks noChangeAspect="1"/>
          </p:cNvPicPr>
          <p:nvPr/>
        </p:nvPicPr>
        <p:blipFill>
          <a:blip r:embed="rId5"/>
          <a:stretch>
            <a:fillRect/>
          </a:stretch>
        </p:blipFill>
        <p:spPr>
          <a:xfrm>
            <a:off x="6007608" y="3246120"/>
            <a:ext cx="1170432" cy="877824"/>
          </a:xfrm>
          <a:prstGeom prst="rect">
            <a:avLst/>
          </a:prstGeom>
        </p:spPr>
      </p:pic>
      <p:sp>
        <p:nvSpPr>
          <p:cNvPr id="29" name="Shape 22"/>
          <p:cNvSpPr/>
          <p:nvPr/>
        </p:nvSpPr>
        <p:spPr>
          <a:xfrm>
            <a:off x="7315200" y="3200400"/>
            <a:ext cx="1261872" cy="960120"/>
          </a:xfrm>
          <a:prstGeom prst="roundRect">
            <a:avLst>
              <a:gd name="adj" fmla="val 9524"/>
            </a:avLst>
          </a:prstGeom>
          <a:solidFill>
            <a:srgbClr val="FFFFFF"/>
          </a:solidFill>
          <a:ln/>
        </p:spPr>
      </p:sp>
      <p:pic>
        <p:nvPicPr>
          <p:cNvPr id="30" name="Image 5" descr="/tmp/claude-0/deck/assets/thumb6.png">    </p:cNvPr>
          <p:cNvPicPr>
            <a:picLocks noChangeAspect="1"/>
          </p:cNvPicPr>
          <p:nvPr/>
        </p:nvPicPr>
        <p:blipFill>
          <a:blip r:embed="rId6"/>
          <a:stretch>
            <a:fillRect/>
          </a:stretch>
        </p:blipFill>
        <p:spPr>
          <a:xfrm>
            <a:off x="7360920" y="3246120"/>
            <a:ext cx="1170432" cy="877824"/>
          </a:xfrm>
          <a:prstGeom prst="rect">
            <a:avLst/>
          </a:prstGeom>
        </p:spPr>
      </p:pic>
      <p:sp>
        <p:nvSpPr>
          <p:cNvPr id="31" name="Text 23"/>
          <p:cNvSpPr txBox="1"/>
          <p:nvPr/>
        </p:nvSpPr>
        <p:spPr>
          <a:xfrm>
            <a:off x="548640" y="4343400"/>
            <a:ext cx="8046720" cy="457200"/>
          </a:xfrm>
          <a:prstGeom prst="rect">
            <a:avLst/>
          </a:prstGeom>
          <a:noFill/>
          <a:ln/>
        </p:spPr>
        <p:txBody>
          <a:bodyPr wrap="square" lIns="0" tIns="0" rIns="0" bIns="0" rtlCol="0" anchor="t"/>
          <a:lstStyle/>
          <a:p>
            <a:pPr indent="0" marL="0">
              <a:buNone/>
            </a:pPr>
            <a:r>
              <a:rPr lang="en-US" sz="1200" i="1" dirty="0">
                <a:solidFill>
                  <a:srgbClr val="5B6675"/>
                </a:solidFill>
                <a:latin typeface="Calibri" pitchFamily="34" charset="0"/>
                <a:ea typeface="Calibri" pitchFamily="34" charset="-122"/>
                <a:cs typeface="Calibri" pitchFamily="34" charset="-120"/>
              </a:rPr>
              <a:t>The plan agent replays a saved Bob Plan session; it does not call Bob live. The product applies the same ideas: specialised agents, parallel checks, a human in the loop.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the hackathon asks, and our proof</a:t>
            </a:r>
            <a:endParaRPr lang="en-US" sz="3000" dirty="0"/>
          </a:p>
        </p:txBody>
      </p:sp>
      <p:sp>
        <p:nvSpPr>
          <p:cNvPr id="3" name="Shape 1"/>
          <p:cNvSpPr/>
          <p:nvPr/>
        </p:nvSpPr>
        <p:spPr>
          <a:xfrm>
            <a:off x="548640" y="1188720"/>
            <a:ext cx="4572000" cy="475488"/>
          </a:xfrm>
          <a:prstGeom prst="roundRect">
            <a:avLst>
              <a:gd name="adj" fmla="val 19231"/>
            </a:avLst>
          </a:prstGeom>
          <a:solidFill>
            <a:srgbClr val="1F2430"/>
          </a:solidFill>
          <a:ln/>
        </p:spPr>
      </p:sp>
      <p:sp>
        <p:nvSpPr>
          <p:cNvPr id="4" name="Shape 2"/>
          <p:cNvSpPr/>
          <p:nvPr/>
        </p:nvSpPr>
        <p:spPr>
          <a:xfrm>
            <a:off x="658368" y="1280160"/>
            <a:ext cx="292608" cy="292608"/>
          </a:xfrm>
          <a:prstGeom prst="ellipse">
            <a:avLst/>
          </a:prstGeom>
          <a:solidFill>
            <a:srgbClr val="2FBF71"/>
          </a:solidFill>
          <a:ln/>
        </p:spPr>
      </p:sp>
      <p:sp>
        <p:nvSpPr>
          <p:cNvPr id="5" name="Text 3"/>
          <p:cNvSpPr txBox="1"/>
          <p:nvPr/>
        </p:nvSpPr>
        <p:spPr>
          <a:xfrm>
            <a:off x="658368" y="128016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6" name="Text 4"/>
          <p:cNvSpPr txBox="1"/>
          <p:nvPr/>
        </p:nvSpPr>
        <p:spPr>
          <a:xfrm>
            <a:off x="1051560" y="118872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Working prototype</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Demo, API and 134 tests</a:t>
            </a:r>
            <a:endParaRPr lang="en-US" sz="1200" dirty="0"/>
          </a:p>
        </p:txBody>
      </p:sp>
      <p:sp>
        <p:nvSpPr>
          <p:cNvPr id="7" name="Shape 5"/>
          <p:cNvSpPr/>
          <p:nvPr/>
        </p:nvSpPr>
        <p:spPr>
          <a:xfrm>
            <a:off x="548640" y="1737360"/>
            <a:ext cx="4572000" cy="475488"/>
          </a:xfrm>
          <a:prstGeom prst="roundRect">
            <a:avLst>
              <a:gd name="adj" fmla="val 19231"/>
            </a:avLst>
          </a:prstGeom>
          <a:solidFill>
            <a:srgbClr val="1F2430"/>
          </a:solidFill>
          <a:ln/>
        </p:spPr>
      </p:sp>
      <p:sp>
        <p:nvSpPr>
          <p:cNvPr id="8" name="Shape 6"/>
          <p:cNvSpPr/>
          <p:nvPr/>
        </p:nvSpPr>
        <p:spPr>
          <a:xfrm>
            <a:off x="658368" y="1828800"/>
            <a:ext cx="292608" cy="292608"/>
          </a:xfrm>
          <a:prstGeom prst="ellipse">
            <a:avLst/>
          </a:prstGeom>
          <a:solidFill>
            <a:srgbClr val="2FBF71"/>
          </a:solidFill>
          <a:ln/>
        </p:spPr>
      </p:sp>
      <p:sp>
        <p:nvSpPr>
          <p:cNvPr id="9" name="Text 7"/>
          <p:cNvSpPr txBox="1"/>
          <p:nvPr/>
        </p:nvSpPr>
        <p:spPr>
          <a:xfrm>
            <a:off x="658368" y="182880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10" name="Text 8"/>
          <p:cNvSpPr txBox="1"/>
          <p:nvPr/>
        </p:nvSpPr>
        <p:spPr>
          <a:xfrm>
            <a:off x="1051560" y="173736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IBM Bob as a core component</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Architecture, contracts, orchestrator, agents</a:t>
            </a:r>
            <a:endParaRPr lang="en-US" sz="1200" dirty="0"/>
          </a:p>
        </p:txBody>
      </p:sp>
      <p:sp>
        <p:nvSpPr>
          <p:cNvPr id="11" name="Shape 9"/>
          <p:cNvSpPr/>
          <p:nvPr/>
        </p:nvSpPr>
        <p:spPr>
          <a:xfrm>
            <a:off x="548640" y="2286000"/>
            <a:ext cx="4572000" cy="475488"/>
          </a:xfrm>
          <a:prstGeom prst="roundRect">
            <a:avLst>
              <a:gd name="adj" fmla="val 19231"/>
            </a:avLst>
          </a:prstGeom>
          <a:solidFill>
            <a:srgbClr val="1F2430"/>
          </a:solidFill>
          <a:ln/>
        </p:spPr>
      </p:sp>
      <p:sp>
        <p:nvSpPr>
          <p:cNvPr id="12" name="Shape 10"/>
          <p:cNvSpPr/>
          <p:nvPr/>
        </p:nvSpPr>
        <p:spPr>
          <a:xfrm>
            <a:off x="658368" y="2377440"/>
            <a:ext cx="292608" cy="292608"/>
          </a:xfrm>
          <a:prstGeom prst="ellipse">
            <a:avLst/>
          </a:prstGeom>
          <a:solidFill>
            <a:srgbClr val="2FBF71"/>
          </a:solidFill>
          <a:ln/>
        </p:spPr>
      </p:sp>
      <p:sp>
        <p:nvSpPr>
          <p:cNvPr id="13" name="Text 11"/>
          <p:cNvSpPr txBox="1"/>
          <p:nvPr/>
        </p:nvSpPr>
        <p:spPr>
          <a:xfrm>
            <a:off x="658368" y="237744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14" name="Text 12"/>
          <p:cNvSpPr txBox="1"/>
          <p:nvPr/>
        </p:nvSpPr>
        <p:spPr>
          <a:xfrm>
            <a:off x="1051560" y="228600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Bob task screenshots</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21 PNG in bob_sessions/, guide naming</a:t>
            </a:r>
            <a:endParaRPr lang="en-US" sz="1200" dirty="0"/>
          </a:p>
        </p:txBody>
      </p:sp>
      <p:sp>
        <p:nvSpPr>
          <p:cNvPr id="15" name="Shape 13"/>
          <p:cNvSpPr/>
          <p:nvPr/>
        </p:nvSpPr>
        <p:spPr>
          <a:xfrm>
            <a:off x="548640" y="2834640"/>
            <a:ext cx="4572000" cy="475488"/>
          </a:xfrm>
          <a:prstGeom prst="roundRect">
            <a:avLst>
              <a:gd name="adj" fmla="val 19231"/>
            </a:avLst>
          </a:prstGeom>
          <a:solidFill>
            <a:srgbClr val="1F2430"/>
          </a:solidFill>
          <a:ln/>
        </p:spPr>
      </p:sp>
      <p:sp>
        <p:nvSpPr>
          <p:cNvPr id="16" name="Shape 14"/>
          <p:cNvSpPr/>
          <p:nvPr/>
        </p:nvSpPr>
        <p:spPr>
          <a:xfrm>
            <a:off x="658368" y="2926080"/>
            <a:ext cx="292608" cy="292608"/>
          </a:xfrm>
          <a:prstGeom prst="ellipse">
            <a:avLst/>
          </a:prstGeom>
          <a:solidFill>
            <a:srgbClr val="2FBF71"/>
          </a:solidFill>
          <a:ln/>
        </p:spPr>
      </p:sp>
      <p:sp>
        <p:nvSpPr>
          <p:cNvPr id="17" name="Text 15"/>
          <p:cNvSpPr txBox="1"/>
          <p:nvPr/>
        </p:nvSpPr>
        <p:spPr>
          <a:xfrm>
            <a:off x="658368" y="292608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18" name="Text 16"/>
          <p:cNvSpPr txBox="1"/>
          <p:nvPr/>
        </p:nvSpPr>
        <p:spPr>
          <a:xfrm>
            <a:off x="1051560" y="283464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Public code repository</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GitHub, README, docs, tests</a:t>
            </a:r>
            <a:endParaRPr lang="en-US" sz="1200" dirty="0"/>
          </a:p>
        </p:txBody>
      </p:sp>
      <p:sp>
        <p:nvSpPr>
          <p:cNvPr id="19" name="Shape 17"/>
          <p:cNvSpPr/>
          <p:nvPr/>
        </p:nvSpPr>
        <p:spPr>
          <a:xfrm>
            <a:off x="548640" y="3383280"/>
            <a:ext cx="4572000" cy="475488"/>
          </a:xfrm>
          <a:prstGeom prst="roundRect">
            <a:avLst>
              <a:gd name="adj" fmla="val 19231"/>
            </a:avLst>
          </a:prstGeom>
          <a:solidFill>
            <a:srgbClr val="1F2430"/>
          </a:solidFill>
          <a:ln/>
        </p:spPr>
      </p:sp>
      <p:sp>
        <p:nvSpPr>
          <p:cNvPr id="20" name="Shape 18"/>
          <p:cNvSpPr/>
          <p:nvPr/>
        </p:nvSpPr>
        <p:spPr>
          <a:xfrm>
            <a:off x="658368" y="3474720"/>
            <a:ext cx="292608" cy="292608"/>
          </a:xfrm>
          <a:prstGeom prst="ellipse">
            <a:avLst/>
          </a:prstGeom>
          <a:solidFill>
            <a:srgbClr val="2FBF71"/>
          </a:solidFill>
          <a:ln/>
        </p:spPr>
      </p:sp>
      <p:sp>
        <p:nvSpPr>
          <p:cNvPr id="21" name="Text 19"/>
          <p:cNvSpPr txBox="1"/>
          <p:nvPr/>
        </p:nvSpPr>
        <p:spPr>
          <a:xfrm>
            <a:off x="658368" y="347472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22" name="Text 20"/>
          <p:cNvSpPr txBox="1"/>
          <p:nvPr/>
        </p:nvSpPr>
        <p:spPr>
          <a:xfrm>
            <a:off x="1051560" y="338328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Productivity, less manual effort</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Automated test, debug, re-scan loop</a:t>
            </a:r>
            <a:endParaRPr lang="en-US" sz="1200" dirty="0"/>
          </a:p>
        </p:txBody>
      </p:sp>
      <p:sp>
        <p:nvSpPr>
          <p:cNvPr id="23" name="Shape 21"/>
          <p:cNvSpPr/>
          <p:nvPr/>
        </p:nvSpPr>
        <p:spPr>
          <a:xfrm>
            <a:off x="548640" y="3931920"/>
            <a:ext cx="4572000" cy="475488"/>
          </a:xfrm>
          <a:prstGeom prst="roundRect">
            <a:avLst>
              <a:gd name="adj" fmla="val 19231"/>
            </a:avLst>
          </a:prstGeom>
          <a:solidFill>
            <a:srgbClr val="1F2430"/>
          </a:solidFill>
          <a:ln/>
        </p:spPr>
      </p:sp>
      <p:sp>
        <p:nvSpPr>
          <p:cNvPr id="24" name="Shape 22"/>
          <p:cNvSpPr/>
          <p:nvPr/>
        </p:nvSpPr>
        <p:spPr>
          <a:xfrm>
            <a:off x="658368" y="4023360"/>
            <a:ext cx="292608" cy="292608"/>
          </a:xfrm>
          <a:prstGeom prst="ellipse">
            <a:avLst/>
          </a:prstGeom>
          <a:solidFill>
            <a:srgbClr val="2FBF71"/>
          </a:solidFill>
          <a:ln/>
        </p:spPr>
      </p:sp>
      <p:sp>
        <p:nvSpPr>
          <p:cNvPr id="25" name="Text 23"/>
          <p:cNvSpPr txBox="1"/>
          <p:nvPr/>
        </p:nvSpPr>
        <p:spPr>
          <a:xfrm>
            <a:off x="658368" y="4023360"/>
            <a:ext cx="292608" cy="292608"/>
          </a:xfrm>
          <a:prstGeom prst="rect">
            <a:avLst/>
          </a:prstGeom>
          <a:noFill/>
          <a:ln/>
        </p:spPr>
        <p:txBody>
          <a:bodyPr wrap="square" lIns="0" tIns="0" rIns="0" bIns="0" rtlCol="0" anchor="ctr"/>
          <a:lstStyle/>
          <a:p>
            <a:pPr algn="ctr" indent="0" marL="0">
              <a:buNone/>
            </a:pPr>
            <a:r>
              <a:rPr lang="en-US" sz="1200" b="1" dirty="0">
                <a:solidFill>
                  <a:srgbClr val="14171F"/>
                </a:solidFill>
                <a:latin typeface="Calibri" pitchFamily="34" charset="0"/>
                <a:ea typeface="Calibri" pitchFamily="34" charset="-122"/>
                <a:cs typeface="Calibri" pitchFamily="34" charset="-120"/>
              </a:rPr>
              <a:t>v</a:t>
            </a:r>
            <a:endParaRPr lang="en-US" sz="1200" dirty="0"/>
          </a:p>
        </p:txBody>
      </p:sp>
      <p:sp>
        <p:nvSpPr>
          <p:cNvPr id="26" name="Text 24"/>
          <p:cNvSpPr txBox="1"/>
          <p:nvPr/>
        </p:nvSpPr>
        <p:spPr>
          <a:xfrm>
            <a:off x="1051560" y="3931920"/>
            <a:ext cx="4023360" cy="47548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Video and presentation</a:t>
            </a:r>
            <a:endParaRPr lang="en-US" sz="1200" dirty="0"/>
          </a:p>
          <a:p>
            <a:pPr indent="0" marL="0">
              <a:buNone/>
            </a:pPr>
            <a:r>
              <a:rPr lang="en-US" sz="1000" dirty="0">
                <a:solidFill>
                  <a:srgbClr val="8FA3B8"/>
                </a:solidFill>
                <a:latin typeface="Calibri" pitchFamily="34" charset="0"/>
                <a:ea typeface="Calibri" pitchFamily="34" charset="-122"/>
                <a:cs typeface="Calibri" pitchFamily="34" charset="-120"/>
              </a:rPr>
              <a:t>Demo video, this deck, cover image</a:t>
            </a:r>
            <a:endParaRPr lang="en-US" sz="1200" dirty="0"/>
          </a:p>
        </p:txBody>
      </p:sp>
      <p:pic>
        <p:nvPicPr>
          <p:cNvPr id="27" name="Image 0" descr="/tmp/claude-0/deck/assets/bob_summary.png">    </p:cNvPr>
          <p:cNvPicPr>
            <a:picLocks noChangeAspect="1"/>
          </p:cNvPicPr>
          <p:nvPr/>
        </p:nvPicPr>
        <p:blipFill>
          <a:blip r:embed="rId1"/>
          <a:stretch>
            <a:fillRect/>
          </a:stretch>
        </p:blipFill>
        <p:spPr>
          <a:xfrm>
            <a:off x="5394960" y="1188720"/>
            <a:ext cx="3200400" cy="2788920"/>
          </a:xfrm>
          <a:prstGeom prst="rect">
            <a:avLst/>
          </a:prstGeom>
        </p:spPr>
      </p:pic>
      <p:sp>
        <p:nvSpPr>
          <p:cNvPr id="28" name="Text 25"/>
          <p:cNvSpPr txBox="1"/>
          <p:nvPr/>
        </p:nvSpPr>
        <p:spPr>
          <a:xfrm>
            <a:off x="5394960" y="4023360"/>
            <a:ext cx="3200400" cy="731520"/>
          </a:xfrm>
          <a:prstGeom prst="rect">
            <a:avLst/>
          </a:prstGeom>
          <a:noFill/>
          <a:ln/>
        </p:spPr>
        <p:txBody>
          <a:bodyPr wrap="square" lIns="0" tIns="0" rIns="0" bIns="0" rtlCol="0" anchor="t"/>
          <a:lstStyle/>
          <a:p>
            <a:pPr indent="0" marL="0">
              <a:buNone/>
            </a:pPr>
            <a:r>
              <a:rPr lang="en-US" sz="1000" dirty="0">
                <a:solidFill>
                  <a:srgbClr val="8FA3B8"/>
                </a:solidFill>
                <a:latin typeface="Calibri" pitchFamily="34" charset="0"/>
                <a:ea typeface="Calibri" pitchFamily="34" charset="-122"/>
                <a:cs typeface="Calibri" pitchFamily="34" charset="-120"/>
              </a:rPr>
              <a:t>Task consumption summary (orchestrator task): 239.7k / 270.0k tokens, 40.23 Bobcoins. The team finished the rest with another AI assistant, and says so.</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8"/>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14171F"/>
                </a:solidFill>
                <a:latin typeface="Cambria" pitchFamily="34" charset="0"/>
                <a:ea typeface="Cambria" pitchFamily="34" charset="-122"/>
                <a:cs typeface="Cambria" pitchFamily="34" charset="-120"/>
              </a:rPr>
              <a:t>Business case</a:t>
            </a:r>
            <a:endParaRPr lang="en-US" sz="3000" dirty="0"/>
          </a:p>
        </p:txBody>
      </p:sp>
      <p:sp>
        <p:nvSpPr>
          <p:cNvPr id="3" name="Text 1"/>
          <p:cNvSpPr txBox="1"/>
          <p:nvPr/>
        </p:nvSpPr>
        <p:spPr>
          <a:xfrm>
            <a:off x="548640" y="914400"/>
            <a:ext cx="80467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For teams that ship AI-written code and need proof, safety and a clear owner of the release</a:t>
            </a:r>
            <a:endParaRPr lang="en-US" sz="1400" dirty="0"/>
          </a:p>
        </p:txBody>
      </p:sp>
      <p:sp>
        <p:nvSpPr>
          <p:cNvPr id="4" name="Shape 2"/>
          <p:cNvSpPr/>
          <p:nvPr/>
        </p:nvSpPr>
        <p:spPr>
          <a:xfrm>
            <a:off x="548640" y="1371600"/>
            <a:ext cx="2514600" cy="2514600"/>
          </a:xfrm>
          <a:prstGeom prst="roundRect">
            <a:avLst>
              <a:gd name="adj" fmla="val 3636"/>
            </a:avLst>
          </a:prstGeom>
          <a:solidFill>
            <a:srgbClr val="FFFFFF"/>
          </a:solidFill>
          <a:ln/>
          <a:effectLst>
            <a:outerShdw sx="100000" sy="100000" kx="0" ky="0" algn="bl" rotWithShape="0" blurRad="101600" dist="25400" dir="5400000">
              <a:srgbClr val="000000">
                <a:alpha val="12000"/>
              </a:srgbClr>
            </a:outerShdw>
          </a:effectLst>
        </p:spPr>
      </p:sp>
      <p:sp>
        <p:nvSpPr>
          <p:cNvPr id="5" name="Text 3"/>
          <p:cNvSpPr txBox="1"/>
          <p:nvPr/>
        </p:nvSpPr>
        <p:spPr>
          <a:xfrm>
            <a:off x="777240" y="1508760"/>
            <a:ext cx="2103120" cy="320040"/>
          </a:xfrm>
          <a:prstGeom prst="rect">
            <a:avLst/>
          </a:prstGeom>
          <a:noFill/>
          <a:ln/>
        </p:spPr>
        <p:txBody>
          <a:bodyPr wrap="square" lIns="0" tIns="0" rIns="0" bIns="0" rtlCol="0" anchor="ctr"/>
          <a:lstStyle/>
          <a:p>
            <a:pPr indent="0" marL="0">
              <a:buNone/>
            </a:pPr>
            <a:r>
              <a:rPr lang="en-US" sz="1600" b="1" dirty="0">
                <a:solidFill>
                  <a:srgbClr val="FF7A2F"/>
                </a:solidFill>
                <a:latin typeface="Cambria" pitchFamily="34" charset="0"/>
                <a:ea typeface="Cambria" pitchFamily="34" charset="-122"/>
                <a:cs typeface="Cambria" pitchFamily="34" charset="-120"/>
              </a:rPr>
              <a:t>Market</a:t>
            </a:r>
            <a:endParaRPr lang="en-US" sz="1600" dirty="0"/>
          </a:p>
        </p:txBody>
      </p:sp>
      <p:sp>
        <p:nvSpPr>
          <p:cNvPr id="6" name="Text 4"/>
          <p:cNvSpPr txBox="1"/>
          <p:nvPr/>
        </p:nvSpPr>
        <p:spPr>
          <a:xfrm>
            <a:off x="777240" y="1874520"/>
            <a:ext cx="2103120" cy="640080"/>
          </a:xfrm>
          <a:prstGeom prst="rect">
            <a:avLst/>
          </a:prstGeom>
          <a:noFill/>
          <a:ln/>
        </p:spPr>
        <p:txBody>
          <a:bodyPr wrap="square" lIns="0" tIns="0" rIns="0" bIns="0" rtlCol="0" anchor="ctr"/>
          <a:lstStyle/>
          <a:p>
            <a:pPr indent="0" marL="0">
              <a:buNone/>
            </a:pPr>
            <a:r>
              <a:rPr lang="en-US" sz="4000" b="1" dirty="0">
                <a:solidFill>
                  <a:srgbClr val="14171F"/>
                </a:solidFill>
                <a:latin typeface="Cambria" pitchFamily="34" charset="0"/>
                <a:ea typeface="Cambria" pitchFamily="34" charset="-122"/>
                <a:cs typeface="Cambria" pitchFamily="34" charset="-120"/>
              </a:rPr>
              <a:t>36.5M</a:t>
            </a:r>
            <a:endParaRPr lang="en-US" sz="4000" dirty="0"/>
          </a:p>
        </p:txBody>
      </p:sp>
      <p:sp>
        <p:nvSpPr>
          <p:cNvPr id="7" name="Text 5"/>
          <p:cNvSpPr txBox="1"/>
          <p:nvPr/>
        </p:nvSpPr>
        <p:spPr>
          <a:xfrm>
            <a:off x="777240" y="2560320"/>
            <a:ext cx="2103120" cy="1280160"/>
          </a:xfrm>
          <a:prstGeom prst="rect">
            <a:avLst/>
          </a:prstGeom>
          <a:noFill/>
          <a:ln/>
        </p:spPr>
        <p:txBody>
          <a:bodyPr wrap="square" lIns="0" tIns="0" rIns="0" bIns="0" rtlCol="0" anchor="t"/>
          <a:lstStyle/>
          <a:p>
            <a:pPr indent="0" marL="0">
              <a:buNone/>
            </a:pPr>
            <a:r>
              <a:rPr lang="en-US" sz="1100" dirty="0">
                <a:solidFill>
                  <a:srgbClr val="5B6675"/>
                </a:solidFill>
                <a:latin typeface="Calibri" pitchFamily="34" charset="0"/>
                <a:ea typeface="Calibri" pitchFamily="34" charset="-122"/>
                <a:cs typeface="Calibri" pitchFamily="34" charset="-120"/>
              </a:rPr>
              <a:t>professional developers worldwide (SlashData, early 2025). Illustration: 1% of them on a $20 seat per month is about $88M a year. Our assumption, not a measurement.</a:t>
            </a:r>
            <a:endParaRPr lang="en-US" sz="1100" dirty="0"/>
          </a:p>
        </p:txBody>
      </p:sp>
      <p:sp>
        <p:nvSpPr>
          <p:cNvPr id="8" name="Shape 6"/>
          <p:cNvSpPr/>
          <p:nvPr/>
        </p:nvSpPr>
        <p:spPr>
          <a:xfrm>
            <a:off x="3291840" y="1371600"/>
            <a:ext cx="2514600" cy="2514600"/>
          </a:xfrm>
          <a:prstGeom prst="roundRect">
            <a:avLst>
              <a:gd name="adj" fmla="val 3636"/>
            </a:avLst>
          </a:prstGeom>
          <a:solidFill>
            <a:srgbClr val="FFFFFF"/>
          </a:solidFill>
          <a:ln/>
          <a:effectLst>
            <a:outerShdw sx="100000" sy="100000" kx="0" ky="0" algn="bl" rotWithShape="0" blurRad="101600" dist="25400" dir="5400000">
              <a:srgbClr val="000000">
                <a:alpha val="12000"/>
              </a:srgbClr>
            </a:outerShdw>
          </a:effectLst>
        </p:spPr>
      </p:sp>
      <p:sp>
        <p:nvSpPr>
          <p:cNvPr id="9" name="Text 7"/>
          <p:cNvSpPr txBox="1"/>
          <p:nvPr/>
        </p:nvSpPr>
        <p:spPr>
          <a:xfrm>
            <a:off x="3520440" y="1508760"/>
            <a:ext cx="2103120" cy="320040"/>
          </a:xfrm>
          <a:prstGeom prst="rect">
            <a:avLst/>
          </a:prstGeom>
          <a:noFill/>
          <a:ln/>
        </p:spPr>
        <p:txBody>
          <a:bodyPr wrap="square" lIns="0" tIns="0" rIns="0" bIns="0" rtlCol="0" anchor="ctr"/>
          <a:lstStyle/>
          <a:p>
            <a:pPr indent="0" marL="0">
              <a:buNone/>
            </a:pPr>
            <a:r>
              <a:rPr lang="en-US" sz="1600" b="1" dirty="0">
                <a:solidFill>
                  <a:srgbClr val="FF7A2F"/>
                </a:solidFill>
                <a:latin typeface="Cambria" pitchFamily="34" charset="0"/>
                <a:ea typeface="Cambria" pitchFamily="34" charset="-122"/>
                <a:cs typeface="Cambria" pitchFamily="34" charset="-120"/>
              </a:rPr>
              <a:t>Revenue model</a:t>
            </a:r>
            <a:endParaRPr lang="en-US" sz="1600" dirty="0"/>
          </a:p>
        </p:txBody>
      </p:sp>
      <p:sp>
        <p:nvSpPr>
          <p:cNvPr id="10" name="Text 8"/>
          <p:cNvSpPr txBox="1"/>
          <p:nvPr/>
        </p:nvSpPr>
        <p:spPr>
          <a:xfrm>
            <a:off x="3520440" y="1874520"/>
            <a:ext cx="210312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171F"/>
                </a:solidFill>
                <a:latin typeface="Calibri" pitchFamily="34" charset="0"/>
                <a:ea typeface="Calibri" pitchFamily="34" charset="-122"/>
                <a:cs typeface="Calibri" pitchFamily="34" charset="-120"/>
              </a:rPr>
              <a:t>Team SaaS: per seat per month</a:t>
            </a:r>
            <a:endParaRPr lang="en-US" sz="1200" dirty="0"/>
          </a:p>
          <a:p>
            <a:pPr marL="342900" indent="-342900">
              <a:spcAft>
                <a:spcPts val="600"/>
              </a:spcAft>
              <a:buSzPct val="100000"/>
              <a:buChar char="•"/>
            </a:pPr>
            <a:r>
              <a:rPr lang="en-US" sz="1200" dirty="0">
                <a:solidFill>
                  <a:srgbClr val="14171F"/>
                </a:solidFill>
                <a:latin typeface="Calibri" pitchFamily="34" charset="0"/>
                <a:ea typeface="Calibri" pitchFamily="34" charset="-122"/>
                <a:cs typeface="Calibri" pitchFamily="34" charset="-120"/>
              </a:rPr>
              <a:t>Usage: per pipeline run in CI</a:t>
            </a:r>
            <a:endParaRPr lang="en-US" sz="1200" dirty="0"/>
          </a:p>
          <a:p>
            <a:pPr marL="342900" indent="-342900">
              <a:spcAft>
                <a:spcPts val="600"/>
              </a:spcAft>
              <a:buSzPct val="100000"/>
              <a:buChar char="•"/>
            </a:pPr>
            <a:r>
              <a:rPr lang="en-US" sz="1200" dirty="0">
                <a:solidFill>
                  <a:srgbClr val="14171F"/>
                </a:solidFill>
                <a:latin typeface="Calibri" pitchFamily="34" charset="0"/>
                <a:ea typeface="Calibri" pitchFamily="34" charset="-122"/>
                <a:cs typeface="Calibri" pitchFamily="34" charset="-120"/>
              </a:rPr>
              <a:t>Enterprise: self-hosted, code never leaves</a:t>
            </a:r>
            <a:endParaRPr lang="en-US" sz="1200" dirty="0"/>
          </a:p>
        </p:txBody>
      </p:sp>
      <p:sp>
        <p:nvSpPr>
          <p:cNvPr id="11" name="Shape 9"/>
          <p:cNvSpPr/>
          <p:nvPr/>
        </p:nvSpPr>
        <p:spPr>
          <a:xfrm>
            <a:off x="6035040" y="1371600"/>
            <a:ext cx="2560320" cy="2514600"/>
          </a:xfrm>
          <a:prstGeom prst="roundRect">
            <a:avLst>
              <a:gd name="adj" fmla="val 3636"/>
            </a:avLst>
          </a:prstGeom>
          <a:solidFill>
            <a:srgbClr val="FFFFFF"/>
          </a:solidFill>
          <a:ln/>
          <a:effectLst>
            <a:outerShdw sx="100000" sy="100000" kx="0" ky="0" algn="bl" rotWithShape="0" blurRad="101600" dist="25400" dir="5400000">
              <a:srgbClr val="000000">
                <a:alpha val="12000"/>
              </a:srgbClr>
            </a:outerShdw>
          </a:effectLst>
        </p:spPr>
      </p:sp>
      <p:sp>
        <p:nvSpPr>
          <p:cNvPr id="12" name="Text 10"/>
          <p:cNvSpPr txBox="1"/>
          <p:nvPr/>
        </p:nvSpPr>
        <p:spPr>
          <a:xfrm>
            <a:off x="6263640" y="1508760"/>
            <a:ext cx="2194560" cy="320040"/>
          </a:xfrm>
          <a:prstGeom prst="rect">
            <a:avLst/>
          </a:prstGeom>
          <a:noFill/>
          <a:ln/>
        </p:spPr>
        <p:txBody>
          <a:bodyPr wrap="square" lIns="0" tIns="0" rIns="0" bIns="0" rtlCol="0" anchor="ctr"/>
          <a:lstStyle/>
          <a:p>
            <a:pPr indent="0" marL="0">
              <a:buNone/>
            </a:pPr>
            <a:r>
              <a:rPr lang="en-US" sz="1600" b="1" dirty="0">
                <a:solidFill>
                  <a:srgbClr val="FF7A2F"/>
                </a:solidFill>
                <a:latin typeface="Cambria" pitchFamily="34" charset="0"/>
                <a:ea typeface="Cambria" pitchFamily="34" charset="-122"/>
                <a:cs typeface="Cambria" pitchFamily="34" charset="-120"/>
              </a:rPr>
              <a:t>Why it needs AI</a:t>
            </a:r>
            <a:endParaRPr lang="en-US" sz="1600" dirty="0"/>
          </a:p>
        </p:txBody>
      </p:sp>
      <p:sp>
        <p:nvSpPr>
          <p:cNvPr id="13" name="Text 11"/>
          <p:cNvSpPr txBox="1"/>
          <p:nvPr/>
        </p:nvSpPr>
        <p:spPr>
          <a:xfrm>
            <a:off x="6263640" y="1874520"/>
            <a:ext cx="2194560" cy="1920240"/>
          </a:xfrm>
          <a:prstGeom prst="rect">
            <a:avLst/>
          </a:prstGeom>
          <a:noFill/>
          <a:ln/>
        </p:spPr>
        <p:txBody>
          <a:bodyPr wrap="square" lIns="0" tIns="0" rIns="0" bIns="0" rtlCol="0" anchor="t"/>
          <a:lstStyle/>
          <a:p>
            <a:pPr indent="0" marL="0">
              <a:buNone/>
            </a:pPr>
            <a:r>
              <a:rPr lang="en-US" sz="1100" dirty="0">
                <a:solidFill>
                  <a:srgbClr val="5B6675"/>
                </a:solidFill>
                <a:latin typeface="Calibri" pitchFamily="34" charset="0"/>
                <a:ea typeface="Calibri" pitchFamily="34" charset="-122"/>
                <a:cs typeface="Calibri" pitchFamily="34" charset="-120"/>
              </a:rPr>
              <a:t>Reading requirements, diagnosing a failure and writing a patch are reasoning tasks. The orchestrator is built so any stage can be run by an AI agent behind the same contract. In this MVP some agents are deterministic; see the roadmap.</a:t>
            </a:r>
            <a:endParaRPr lang="en-US" sz="1100" dirty="0"/>
          </a:p>
        </p:txBody>
      </p:sp>
      <p:sp>
        <p:nvSpPr>
          <p:cNvPr id="14" name="Text 12"/>
          <p:cNvSpPr txBox="1"/>
          <p:nvPr/>
        </p:nvSpPr>
        <p:spPr>
          <a:xfrm>
            <a:off x="548640" y="4114800"/>
            <a:ext cx="8046720" cy="548640"/>
          </a:xfrm>
          <a:prstGeom prst="rect">
            <a:avLst/>
          </a:prstGeom>
          <a:noFill/>
          <a:ln/>
        </p:spPr>
        <p:txBody>
          <a:bodyPr wrap="square" lIns="0" tIns="0" rIns="0" bIns="0" rtlCol="0" anchor="t"/>
          <a:lstStyle/>
          <a:p>
            <a:pPr indent="0" marL="0">
              <a:buNone/>
            </a:pPr>
            <a:r>
              <a:rPr lang="en-US" sz="1300" i="1" dirty="0">
                <a:solidFill>
                  <a:srgbClr val="5B6675"/>
                </a:solidFill>
                <a:latin typeface="Calibri" pitchFamily="34" charset="0"/>
                <a:ea typeface="Calibri" pitchFamily="34" charset="-122"/>
                <a:cs typeface="Calibri" pitchFamily="34" charset="-120"/>
              </a:rPr>
              <a:t>Value: less manual effort and rework, fewer defects reaching release, and an audit trail (event log, decisions, gate results) for every run.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Measured, and why it is different</a:t>
            </a:r>
            <a:endParaRPr lang="en-US" sz="3000" dirty="0"/>
          </a:p>
        </p:txBody>
      </p:sp>
      <p:sp>
        <p:nvSpPr>
          <p:cNvPr id="3" name="Shape 1"/>
          <p:cNvSpPr/>
          <p:nvPr/>
        </p:nvSpPr>
        <p:spPr>
          <a:xfrm>
            <a:off x="548640" y="1188720"/>
            <a:ext cx="1828800" cy="1280160"/>
          </a:xfrm>
          <a:prstGeom prst="roundRect">
            <a:avLst>
              <a:gd name="adj" fmla="val 7143"/>
            </a:avLst>
          </a:prstGeom>
          <a:solidFill>
            <a:srgbClr val="1F2430"/>
          </a:solidFill>
          <a:ln/>
        </p:spPr>
      </p:sp>
      <p:sp>
        <p:nvSpPr>
          <p:cNvPr id="4" name="Text 2"/>
          <p:cNvSpPr txBox="1"/>
          <p:nvPr/>
        </p:nvSpPr>
        <p:spPr>
          <a:xfrm>
            <a:off x="548640" y="1298448"/>
            <a:ext cx="1828800" cy="640080"/>
          </a:xfrm>
          <a:prstGeom prst="rect">
            <a:avLst/>
          </a:prstGeom>
          <a:noFill/>
          <a:ln/>
        </p:spPr>
        <p:txBody>
          <a:bodyPr wrap="square" lIns="0" tIns="0" rIns="0" bIns="0" rtlCol="0" anchor="ctr"/>
          <a:lstStyle/>
          <a:p>
            <a:pPr algn="ctr" indent="0" marL="0">
              <a:buNone/>
            </a:pPr>
            <a:r>
              <a:rPr lang="en-US" sz="3000" b="1" dirty="0">
                <a:solidFill>
                  <a:srgbClr val="FF7A2F"/>
                </a:solidFill>
                <a:latin typeface="Cambria" pitchFamily="34" charset="0"/>
                <a:ea typeface="Cambria" pitchFamily="34" charset="-122"/>
                <a:cs typeface="Cambria" pitchFamily="34" charset="-120"/>
              </a:rPr>
              <a:t>134</a:t>
            </a:r>
            <a:endParaRPr lang="en-US" sz="3000" dirty="0"/>
          </a:p>
        </p:txBody>
      </p:sp>
      <p:sp>
        <p:nvSpPr>
          <p:cNvPr id="5" name="Text 3"/>
          <p:cNvSpPr txBox="1"/>
          <p:nvPr/>
        </p:nvSpPr>
        <p:spPr>
          <a:xfrm>
            <a:off x="640080" y="1965960"/>
            <a:ext cx="1645920" cy="41148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automated tests pass</a:t>
            </a:r>
            <a:endParaRPr lang="en-US" sz="1100" dirty="0"/>
          </a:p>
        </p:txBody>
      </p:sp>
      <p:sp>
        <p:nvSpPr>
          <p:cNvPr id="6" name="Shape 4"/>
          <p:cNvSpPr/>
          <p:nvPr/>
        </p:nvSpPr>
        <p:spPr>
          <a:xfrm>
            <a:off x="2560320" y="1188720"/>
            <a:ext cx="1828800" cy="1280160"/>
          </a:xfrm>
          <a:prstGeom prst="roundRect">
            <a:avLst>
              <a:gd name="adj" fmla="val 7143"/>
            </a:avLst>
          </a:prstGeom>
          <a:solidFill>
            <a:srgbClr val="1F2430"/>
          </a:solidFill>
          <a:ln/>
        </p:spPr>
      </p:sp>
      <p:sp>
        <p:nvSpPr>
          <p:cNvPr id="7" name="Text 5"/>
          <p:cNvSpPr txBox="1"/>
          <p:nvPr/>
        </p:nvSpPr>
        <p:spPr>
          <a:xfrm>
            <a:off x="2560320" y="1298448"/>
            <a:ext cx="1828800" cy="640080"/>
          </a:xfrm>
          <a:prstGeom prst="rect">
            <a:avLst/>
          </a:prstGeom>
          <a:noFill/>
          <a:ln/>
        </p:spPr>
        <p:txBody>
          <a:bodyPr wrap="square" lIns="0" tIns="0" rIns="0" bIns="0" rtlCol="0" anchor="ctr"/>
          <a:lstStyle/>
          <a:p>
            <a:pPr algn="ctr" indent="0" marL="0">
              <a:buNone/>
            </a:pPr>
            <a:r>
              <a:rPr lang="en-US" sz="3000" b="1" dirty="0">
                <a:solidFill>
                  <a:srgbClr val="FF7A2F"/>
                </a:solidFill>
                <a:latin typeface="Cambria" pitchFamily="34" charset="0"/>
                <a:ea typeface="Cambria" pitchFamily="34" charset="-122"/>
                <a:cs typeface="Cambria" pitchFamily="34" charset="-120"/>
              </a:rPr>
              <a:t>3 / 3</a:t>
            </a:r>
            <a:endParaRPr lang="en-US" sz="3000" dirty="0"/>
          </a:p>
        </p:txBody>
      </p:sp>
      <p:sp>
        <p:nvSpPr>
          <p:cNvPr id="8" name="Text 6"/>
          <p:cNvSpPr txBox="1"/>
          <p:nvPr/>
        </p:nvSpPr>
        <p:spPr>
          <a:xfrm>
            <a:off x="2651760" y="1965960"/>
            <a:ext cx="1645920" cy="41148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real runs released, identical</a:t>
            </a:r>
            <a:endParaRPr lang="en-US" sz="1100" dirty="0"/>
          </a:p>
        </p:txBody>
      </p:sp>
      <p:sp>
        <p:nvSpPr>
          <p:cNvPr id="9" name="Shape 7"/>
          <p:cNvSpPr/>
          <p:nvPr/>
        </p:nvSpPr>
        <p:spPr>
          <a:xfrm>
            <a:off x="548640" y="2606040"/>
            <a:ext cx="1828800" cy="1280160"/>
          </a:xfrm>
          <a:prstGeom prst="roundRect">
            <a:avLst>
              <a:gd name="adj" fmla="val 7143"/>
            </a:avLst>
          </a:prstGeom>
          <a:solidFill>
            <a:srgbClr val="1F2430"/>
          </a:solidFill>
          <a:ln/>
        </p:spPr>
      </p:sp>
      <p:sp>
        <p:nvSpPr>
          <p:cNvPr id="10" name="Text 8"/>
          <p:cNvSpPr txBox="1"/>
          <p:nvPr/>
        </p:nvSpPr>
        <p:spPr>
          <a:xfrm>
            <a:off x="548640" y="2715768"/>
            <a:ext cx="1828800" cy="640080"/>
          </a:xfrm>
          <a:prstGeom prst="rect">
            <a:avLst/>
          </a:prstGeom>
          <a:noFill/>
          <a:ln/>
        </p:spPr>
        <p:txBody>
          <a:bodyPr wrap="square" lIns="0" tIns="0" rIns="0" bIns="0" rtlCol="0" anchor="ctr"/>
          <a:lstStyle/>
          <a:p>
            <a:pPr algn="ctr" indent="0" marL="0">
              <a:buNone/>
            </a:pPr>
            <a:r>
              <a:rPr lang="en-US" sz="3000" b="1" dirty="0">
                <a:solidFill>
                  <a:srgbClr val="FF7A2F"/>
                </a:solidFill>
                <a:latin typeface="Cambria" pitchFamily="34" charset="0"/>
                <a:ea typeface="Cambria" pitchFamily="34" charset="-122"/>
                <a:cs typeface="Cambria" pitchFamily="34" charset="-120"/>
              </a:rPr>
              <a:t>17&gt;20</a:t>
            </a:r>
            <a:endParaRPr lang="en-US" sz="3000" dirty="0"/>
          </a:p>
        </p:txBody>
      </p:sp>
      <p:sp>
        <p:nvSpPr>
          <p:cNvPr id="11" name="Text 9"/>
          <p:cNvSpPr txBox="1"/>
          <p:nvPr/>
        </p:nvSpPr>
        <p:spPr>
          <a:xfrm>
            <a:off x="640080" y="3383280"/>
            <a:ext cx="1645920" cy="41148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tests after the patch</a:t>
            </a:r>
            <a:endParaRPr lang="en-US" sz="1100" dirty="0"/>
          </a:p>
        </p:txBody>
      </p:sp>
      <p:sp>
        <p:nvSpPr>
          <p:cNvPr id="12" name="Shape 10"/>
          <p:cNvSpPr/>
          <p:nvPr/>
        </p:nvSpPr>
        <p:spPr>
          <a:xfrm>
            <a:off x="2560320" y="2606040"/>
            <a:ext cx="1828800" cy="1280160"/>
          </a:xfrm>
          <a:prstGeom prst="roundRect">
            <a:avLst>
              <a:gd name="adj" fmla="val 7143"/>
            </a:avLst>
          </a:prstGeom>
          <a:solidFill>
            <a:srgbClr val="1F2430"/>
          </a:solidFill>
          <a:ln/>
        </p:spPr>
      </p:sp>
      <p:sp>
        <p:nvSpPr>
          <p:cNvPr id="13" name="Text 11"/>
          <p:cNvSpPr txBox="1"/>
          <p:nvPr/>
        </p:nvSpPr>
        <p:spPr>
          <a:xfrm>
            <a:off x="2560320" y="2715768"/>
            <a:ext cx="1828800" cy="640080"/>
          </a:xfrm>
          <a:prstGeom prst="rect">
            <a:avLst/>
          </a:prstGeom>
          <a:noFill/>
          <a:ln/>
        </p:spPr>
        <p:txBody>
          <a:bodyPr wrap="square" lIns="0" tIns="0" rIns="0" bIns="0" rtlCol="0" anchor="ctr"/>
          <a:lstStyle/>
          <a:p>
            <a:pPr algn="ctr" indent="0" marL="0">
              <a:buNone/>
            </a:pPr>
            <a:r>
              <a:rPr lang="en-US" sz="3000" b="1" dirty="0">
                <a:solidFill>
                  <a:srgbClr val="FF7A2F"/>
                </a:solidFill>
                <a:latin typeface="Cambria" pitchFamily="34" charset="0"/>
                <a:ea typeface="Cambria" pitchFamily="34" charset="-122"/>
                <a:cs typeface="Cambria" pitchFamily="34" charset="-120"/>
              </a:rPr>
              <a:t>2</a:t>
            </a:r>
            <a:endParaRPr lang="en-US" sz="3000" dirty="0"/>
          </a:p>
        </p:txBody>
      </p:sp>
      <p:sp>
        <p:nvSpPr>
          <p:cNvPr id="14" name="Text 12"/>
          <p:cNvSpPr txBox="1"/>
          <p:nvPr/>
        </p:nvSpPr>
        <p:spPr>
          <a:xfrm>
            <a:off x="2651760" y="3383280"/>
            <a:ext cx="1645920" cy="41148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retries per run</a:t>
            </a:r>
            <a:endParaRPr lang="en-US" sz="1100" dirty="0"/>
          </a:p>
        </p:txBody>
      </p:sp>
      <p:sp>
        <p:nvSpPr>
          <p:cNvPr id="15" name="Text 13"/>
          <p:cNvSpPr txBox="1"/>
          <p:nvPr/>
        </p:nvSpPr>
        <p:spPr>
          <a:xfrm>
            <a:off x="475488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Not a code generator: it runs the lifecycle.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 100% test gate and a security gate, in parallel.</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Failures loop back to the right agent.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 human release that never approves by accident.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Every agent labelled REAL, REPLAY or STUB.</a:t>
            </a:r>
            <a:endParaRPr lang="en-US" sz="1400" dirty="0"/>
          </a:p>
        </p:txBody>
      </p:sp>
      <p:sp>
        <p:nvSpPr>
          <p:cNvPr id="16" name="Text 14"/>
          <p:cNvSpPr txBox="1"/>
          <p:nvPr/>
        </p:nvSpPr>
        <p:spPr>
          <a:xfrm>
            <a:off x="548640" y="4206240"/>
            <a:ext cx="8046720" cy="457200"/>
          </a:xfrm>
          <a:prstGeom prst="rect">
            <a:avLst/>
          </a:prstGeom>
          <a:noFill/>
          <a:ln/>
        </p:spPr>
        <p:txBody>
          <a:bodyPr wrap="square" lIns="0" tIns="0" rIns="0" bIns="0" rtlCol="0" anchor="t"/>
          <a:lstStyle/>
          <a:p>
            <a:pPr indent="0" marL="0">
              <a:buNone/>
            </a:pPr>
            <a:r>
              <a:rPr lang="en-US" sz="1200" i="1" dirty="0">
                <a:solidFill>
                  <a:srgbClr val="8FA3B8"/>
                </a:solidFill>
                <a:latin typeface="Calibri" pitchFamily="34" charset="0"/>
                <a:ea typeface="Calibri" pitchFamily="34" charset="-122"/>
                <a:cs typeface="Calibri" pitchFamily="34" charset="-120"/>
              </a:rPr>
              <a:t>Limits: 3 runs with the same demo idea; one saved plan; the security fix step is a stub (docs/IMPACT.md).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71F"/>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Team and roadmap</a:t>
            </a:r>
            <a:endParaRPr lang="en-US" sz="3000" dirty="0"/>
          </a:p>
        </p:txBody>
      </p:sp>
      <p:sp>
        <p:nvSpPr>
          <p:cNvPr id="3" name="Shape 1"/>
          <p:cNvSpPr/>
          <p:nvPr/>
        </p:nvSpPr>
        <p:spPr>
          <a:xfrm>
            <a:off x="548640" y="1143000"/>
            <a:ext cx="3931920" cy="457200"/>
          </a:xfrm>
          <a:prstGeom prst="roundRect">
            <a:avLst>
              <a:gd name="adj" fmla="val 20000"/>
            </a:avLst>
          </a:prstGeom>
          <a:solidFill>
            <a:srgbClr val="1F2430"/>
          </a:solidFill>
          <a:ln/>
        </p:spPr>
      </p:sp>
      <p:sp>
        <p:nvSpPr>
          <p:cNvPr id="4" name="Text 2"/>
          <p:cNvSpPr txBox="1"/>
          <p:nvPr/>
        </p:nvSpPr>
        <p:spPr>
          <a:xfrm>
            <a:off x="731520" y="1143000"/>
            <a:ext cx="3657600" cy="457200"/>
          </a:xfrm>
          <a:prstGeom prst="rect">
            <a:avLst/>
          </a:prstGeom>
          <a:noFill/>
          <a:ln/>
        </p:spPr>
        <p:txBody>
          <a:bodyPr wrap="square" lIns="0" tIns="0" rIns="0" bIns="0" rtlCol="0" anchor="ctr"/>
          <a:lstStyle/>
          <a:p>
            <a:pPr indent="0" marL="0">
              <a:buNone/>
            </a:pPr>
            <a:r>
              <a:rPr lang="en-US" sz="1200" b="1" dirty="0">
                <a:solidFill>
                  <a:srgbClr val="FF7A2F"/>
                </a:solidFill>
                <a:latin typeface="Calibri" pitchFamily="34" charset="0"/>
                <a:ea typeface="Calibri" pitchFamily="34" charset="-122"/>
                <a:cs typeface="Calibri" pitchFamily="34" charset="-120"/>
              </a:rPr>
              <a:t>Fatima Ezzahrae  </a:t>
            </a:r>
            <a:pPr indent="0" marL="0">
              <a:buNone/>
            </a:pPr>
            <a:r>
              <a:rPr lang="en-US" sz="1200" dirty="0">
                <a:solidFill>
                  <a:srgbClr val="FFFFFF"/>
                </a:solidFill>
                <a:latin typeface="Calibri" pitchFamily="34" charset="0"/>
                <a:ea typeface="Calibri" pitchFamily="34" charset="-122"/>
                <a:cs typeface="Calibri" pitchFamily="34" charset="-120"/>
              </a:rPr>
              <a:t>Leader: orchestrator, gates, integration</a:t>
            </a:r>
            <a:endParaRPr lang="en-US" sz="1200" dirty="0"/>
          </a:p>
        </p:txBody>
      </p:sp>
      <p:sp>
        <p:nvSpPr>
          <p:cNvPr id="5" name="Shape 3"/>
          <p:cNvSpPr/>
          <p:nvPr/>
        </p:nvSpPr>
        <p:spPr>
          <a:xfrm>
            <a:off x="548640" y="1691640"/>
            <a:ext cx="3931920" cy="457200"/>
          </a:xfrm>
          <a:prstGeom prst="roundRect">
            <a:avLst>
              <a:gd name="adj" fmla="val 20000"/>
            </a:avLst>
          </a:prstGeom>
          <a:solidFill>
            <a:srgbClr val="1F2430"/>
          </a:solidFill>
          <a:ln/>
        </p:spPr>
      </p:sp>
      <p:sp>
        <p:nvSpPr>
          <p:cNvPr id="6" name="Text 4"/>
          <p:cNvSpPr txBox="1"/>
          <p:nvPr/>
        </p:nvSpPr>
        <p:spPr>
          <a:xfrm>
            <a:off x="731520" y="1691640"/>
            <a:ext cx="3657600" cy="457200"/>
          </a:xfrm>
          <a:prstGeom prst="rect">
            <a:avLst/>
          </a:prstGeom>
          <a:noFill/>
          <a:ln/>
        </p:spPr>
        <p:txBody>
          <a:bodyPr wrap="square" lIns="0" tIns="0" rIns="0" bIns="0" rtlCol="0" anchor="ctr"/>
          <a:lstStyle/>
          <a:p>
            <a:pPr indent="0" marL="0">
              <a:buNone/>
            </a:pPr>
            <a:r>
              <a:rPr lang="en-US" sz="1200" b="1" dirty="0">
                <a:solidFill>
                  <a:srgbClr val="FF7A2F"/>
                </a:solidFill>
                <a:latin typeface="Calibri" pitchFamily="34" charset="0"/>
                <a:ea typeface="Calibri" pitchFamily="34" charset="-122"/>
                <a:cs typeface="Calibri" pitchFamily="34" charset="-120"/>
              </a:rPr>
              <a:t>Fati  </a:t>
            </a:r>
            <a:pPr indent="0" marL="0">
              <a:buNone/>
            </a:pPr>
            <a:r>
              <a:rPr lang="en-US" sz="1200" dirty="0">
                <a:solidFill>
                  <a:srgbClr val="FFFFFF"/>
                </a:solidFill>
                <a:latin typeface="Calibri" pitchFamily="34" charset="0"/>
                <a:ea typeface="Calibri" pitchFamily="34" charset="-122"/>
                <a:cs typeface="Calibri" pitchFamily="34" charset="-120"/>
              </a:rPr>
              <a:t>Plan agent</a:t>
            </a:r>
            <a:endParaRPr lang="en-US" sz="1200" dirty="0"/>
          </a:p>
        </p:txBody>
      </p:sp>
      <p:sp>
        <p:nvSpPr>
          <p:cNvPr id="7" name="Shape 5"/>
          <p:cNvSpPr/>
          <p:nvPr/>
        </p:nvSpPr>
        <p:spPr>
          <a:xfrm>
            <a:off x="548640" y="2240280"/>
            <a:ext cx="3931920" cy="457200"/>
          </a:xfrm>
          <a:prstGeom prst="roundRect">
            <a:avLst>
              <a:gd name="adj" fmla="val 20000"/>
            </a:avLst>
          </a:prstGeom>
          <a:solidFill>
            <a:srgbClr val="1F2430"/>
          </a:solidFill>
          <a:ln/>
        </p:spPr>
      </p:sp>
      <p:sp>
        <p:nvSpPr>
          <p:cNvPr id="8" name="Text 6"/>
          <p:cNvSpPr txBox="1"/>
          <p:nvPr/>
        </p:nvSpPr>
        <p:spPr>
          <a:xfrm>
            <a:off x="731520" y="2240280"/>
            <a:ext cx="3657600" cy="457200"/>
          </a:xfrm>
          <a:prstGeom prst="rect">
            <a:avLst/>
          </a:prstGeom>
          <a:noFill/>
          <a:ln/>
        </p:spPr>
        <p:txBody>
          <a:bodyPr wrap="square" lIns="0" tIns="0" rIns="0" bIns="0" rtlCol="0" anchor="ctr"/>
          <a:lstStyle/>
          <a:p>
            <a:pPr indent="0" marL="0">
              <a:buNone/>
            </a:pPr>
            <a:r>
              <a:rPr lang="en-US" sz="1200" b="1" dirty="0">
                <a:solidFill>
                  <a:srgbClr val="FF7A2F"/>
                </a:solidFill>
                <a:latin typeface="Calibri" pitchFamily="34" charset="0"/>
                <a:ea typeface="Calibri" pitchFamily="34" charset="-122"/>
                <a:cs typeface="Calibri" pitchFamily="34" charset="-120"/>
              </a:rPr>
              <a:t>Manar  </a:t>
            </a:r>
            <a:pPr indent="0" marL="0">
              <a:buNone/>
            </a:pPr>
            <a:r>
              <a:rPr lang="en-US" sz="1200" dirty="0">
                <a:solidFill>
                  <a:srgbClr val="FFFFFF"/>
                </a:solidFill>
                <a:latin typeface="Calibri" pitchFamily="34" charset="0"/>
                <a:ea typeface="Calibri" pitchFamily="34" charset="-122"/>
                <a:cs typeface="Calibri" pitchFamily="34" charset="-120"/>
              </a:rPr>
              <a:t>Testing and debug agents, API</a:t>
            </a:r>
            <a:endParaRPr lang="en-US" sz="1200" dirty="0"/>
          </a:p>
        </p:txBody>
      </p:sp>
      <p:sp>
        <p:nvSpPr>
          <p:cNvPr id="9" name="Shape 7"/>
          <p:cNvSpPr/>
          <p:nvPr/>
        </p:nvSpPr>
        <p:spPr>
          <a:xfrm>
            <a:off x="548640" y="2788920"/>
            <a:ext cx="3931920" cy="457200"/>
          </a:xfrm>
          <a:prstGeom prst="roundRect">
            <a:avLst>
              <a:gd name="adj" fmla="val 20000"/>
            </a:avLst>
          </a:prstGeom>
          <a:solidFill>
            <a:srgbClr val="1F2430"/>
          </a:solidFill>
          <a:ln/>
        </p:spPr>
      </p:sp>
      <p:sp>
        <p:nvSpPr>
          <p:cNvPr id="10" name="Text 8"/>
          <p:cNvSpPr txBox="1"/>
          <p:nvPr/>
        </p:nvSpPr>
        <p:spPr>
          <a:xfrm>
            <a:off x="731520" y="2788920"/>
            <a:ext cx="3657600" cy="457200"/>
          </a:xfrm>
          <a:prstGeom prst="rect">
            <a:avLst/>
          </a:prstGeom>
          <a:noFill/>
          <a:ln/>
        </p:spPr>
        <p:txBody>
          <a:bodyPr wrap="square" lIns="0" tIns="0" rIns="0" bIns="0" rtlCol="0" anchor="ctr"/>
          <a:lstStyle/>
          <a:p>
            <a:pPr indent="0" marL="0">
              <a:buNone/>
            </a:pPr>
            <a:r>
              <a:rPr lang="en-US" sz="1200" b="1" dirty="0">
                <a:solidFill>
                  <a:srgbClr val="FF7A2F"/>
                </a:solidFill>
                <a:latin typeface="Calibri" pitchFamily="34" charset="0"/>
                <a:ea typeface="Calibri" pitchFamily="34" charset="-122"/>
                <a:cs typeface="Calibri" pitchFamily="34" charset="-120"/>
              </a:rPr>
              <a:t>Haytam  </a:t>
            </a:r>
            <a:pPr indent="0" marL="0">
              <a:buNone/>
            </a:pPr>
            <a:r>
              <a:rPr lang="en-US" sz="1200" dirty="0">
                <a:solidFill>
                  <a:srgbClr val="FFFFFF"/>
                </a:solidFill>
                <a:latin typeface="Calibri" pitchFamily="34" charset="0"/>
                <a:ea typeface="Calibri" pitchFamily="34" charset="-122"/>
                <a:cs typeface="Calibri" pitchFamily="34" charset="-120"/>
              </a:rPr>
              <a:t>Security agent</a:t>
            </a:r>
            <a:endParaRPr lang="en-US" sz="1200" dirty="0"/>
          </a:p>
        </p:txBody>
      </p:sp>
      <p:sp>
        <p:nvSpPr>
          <p:cNvPr id="11" name="Shape 9"/>
          <p:cNvSpPr/>
          <p:nvPr/>
        </p:nvSpPr>
        <p:spPr>
          <a:xfrm>
            <a:off x="548640" y="3337560"/>
            <a:ext cx="3931920" cy="457200"/>
          </a:xfrm>
          <a:prstGeom prst="roundRect">
            <a:avLst>
              <a:gd name="adj" fmla="val 20000"/>
            </a:avLst>
          </a:prstGeom>
          <a:solidFill>
            <a:srgbClr val="1F2430"/>
          </a:solidFill>
          <a:ln/>
        </p:spPr>
      </p:sp>
      <p:sp>
        <p:nvSpPr>
          <p:cNvPr id="12" name="Text 10"/>
          <p:cNvSpPr txBox="1"/>
          <p:nvPr/>
        </p:nvSpPr>
        <p:spPr>
          <a:xfrm>
            <a:off x="731520" y="3337560"/>
            <a:ext cx="3657600" cy="457200"/>
          </a:xfrm>
          <a:prstGeom prst="rect">
            <a:avLst/>
          </a:prstGeom>
          <a:noFill/>
          <a:ln/>
        </p:spPr>
        <p:txBody>
          <a:bodyPr wrap="square" lIns="0" tIns="0" rIns="0" bIns="0" rtlCol="0" anchor="ctr"/>
          <a:lstStyle/>
          <a:p>
            <a:pPr indent="0" marL="0">
              <a:buNone/>
            </a:pPr>
            <a:r>
              <a:rPr lang="en-US" sz="1200" b="1" dirty="0">
                <a:solidFill>
                  <a:srgbClr val="FF7A2F"/>
                </a:solidFill>
                <a:latin typeface="Calibri" pitchFamily="34" charset="0"/>
                <a:ea typeface="Calibri" pitchFamily="34" charset="-122"/>
                <a:cs typeface="Calibri" pitchFamily="34" charset="-120"/>
              </a:rPr>
              <a:t>Safa  </a:t>
            </a:r>
            <a:pPr indent="0" marL="0">
              <a:buNone/>
            </a:pPr>
            <a:r>
              <a:rPr lang="en-US" sz="1200" dirty="0">
                <a:solidFill>
                  <a:srgbClr val="FFFFFF"/>
                </a:solidFill>
                <a:latin typeface="Calibri" pitchFamily="34" charset="0"/>
                <a:ea typeface="Calibri" pitchFamily="34" charset="-122"/>
                <a:cs typeface="Calibri" pitchFamily="34" charset="-120"/>
              </a:rPr>
              <a:t>Memory, metrics, insights</a:t>
            </a:r>
            <a:endParaRPr lang="en-US" sz="1200" dirty="0"/>
          </a:p>
        </p:txBody>
      </p:sp>
      <p:sp>
        <p:nvSpPr>
          <p:cNvPr id="13" name="Text 11"/>
          <p:cNvSpPr txBox="1"/>
          <p:nvPr/>
        </p:nvSpPr>
        <p:spPr>
          <a:xfrm>
            <a:off x="4846320" y="1097280"/>
            <a:ext cx="3749040" cy="365760"/>
          </a:xfrm>
          <a:prstGeom prst="rect">
            <a:avLst/>
          </a:prstGeom>
          <a:noFill/>
          <a:ln/>
        </p:spPr>
        <p:txBody>
          <a:bodyPr wrap="square" lIns="0" tIns="0" rIns="0" bIns="0" rtlCol="0" anchor="ctr"/>
          <a:lstStyle/>
          <a:p>
            <a:pPr indent="0" marL="0">
              <a:buNone/>
            </a:pPr>
            <a:r>
              <a:rPr lang="en-US" sz="1800" b="1" dirty="0">
                <a:solidFill>
                  <a:srgbClr val="FF7A2F"/>
                </a:solidFill>
                <a:latin typeface="Cambria" pitchFamily="34" charset="0"/>
                <a:ea typeface="Cambria" pitchFamily="34" charset="-122"/>
                <a:cs typeface="Cambria" pitchFamily="34" charset="-120"/>
              </a:rPr>
              <a:t>Roadmap</a:t>
            </a:r>
            <a:endParaRPr lang="en-US" sz="1800" dirty="0"/>
          </a:p>
        </p:txBody>
      </p:sp>
      <p:sp>
        <p:nvSpPr>
          <p:cNvPr id="14" name="Text 12"/>
          <p:cNvSpPr txBox="1"/>
          <p:nvPr/>
        </p:nvSpPr>
        <p:spPr>
          <a:xfrm>
            <a:off x="4846320" y="1508760"/>
            <a:ext cx="3749040" cy="21945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 hosted dashboard with live approval</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AI-backed builder, debugger and fix agents behind the same contracts</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More milestones and more gates (review, performance)</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 GitHub Action that runs DevForge on every pull request</a:t>
            </a:r>
            <a:endParaRPr lang="en-US" sz="1300" dirty="0"/>
          </a:p>
        </p:txBody>
      </p:sp>
      <p:sp>
        <p:nvSpPr>
          <p:cNvPr id="15" name="Text 13"/>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github.com/Ezzouzi-Fatima-Ezzahrae/DevForge_IBM_hackathon     |     Thank you. Questions?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DevForge - IBM Bob 2.0 Hackathon</dc:title>
  <dc:subject>PptxGenJS Presentation</dc:subject>
  <dc:creator>PptxGenJS</dc:creator>
  <cp:lastModifiedBy>PptxGenJS</cp:lastModifiedBy>
  <cp:revision>1</cp:revision>
  <dcterms:created xsi:type="dcterms:W3CDTF">2026-09-27T02:37:53Z</dcterms:created>
  <dcterms:modified xsi:type="dcterms:W3CDTF">2026-09-27T02:37:53Z</dcterms:modified>
</cp:coreProperties>
</file>