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920240"/>
            <a:ext cx="6858000" cy="6858000"/>
          </a:xfrm>
          <a:prstGeom prst="ellipse">
            <a:avLst/>
          </a:prstGeom>
          <a:solidFill>
            <a:srgbClr val="FF7A1A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377440" y="4206240"/>
            <a:ext cx="5486400" cy="5486400"/>
          </a:xfrm>
          <a:prstGeom prst="ellipse">
            <a:avLst/>
          </a:prstGeom>
          <a:solidFill>
            <a:srgbClr val="4DD8E6">
              <a:alpha val="7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68580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IBM BOB 2.0 HACKATHON  ·  LABLAB.AI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234440"/>
            <a:ext cx="6949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</a:t>
            </a:r>
            <a:pPr indent="0" marL="0">
              <a:buNone/>
            </a:pPr>
            <a:r>
              <a:rPr lang="en-US" sz="6000" b="1" dirty="0">
                <a:solidFill>
                  <a:srgbClr val="FF7A1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Forge</a:t>
            </a:r>
            <a:endParaRPr lang="en-US" sz="60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68880"/>
            <a:ext cx="6675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1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doesn't just build software.</a:t>
            </a:r>
            <a:endParaRPr lang="en-US" sz="2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100" b="1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proves it's ready to ship.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611880"/>
            <a:ext cx="6126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for the whole software lifecycle: specialized AI agents plan, build, test, debug and secure the code, behind quality gates that a human ultimately controls.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85800" y="4709160"/>
            <a:ext cx="982980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85800" y="4704588"/>
            <a:ext cx="9829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agents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796796" y="4709160"/>
            <a:ext cx="1138428" cy="256032"/>
          </a:xfrm>
          <a:prstGeom prst="roundRect">
            <a:avLst>
              <a:gd name="adj" fmla="val 50000"/>
            </a:avLst>
          </a:prstGeom>
          <a:solidFill>
            <a:srgbClr val="FF9D4D">
              <a:alpha val="14000"/>
            </a:srgbClr>
          </a:solidFill>
          <a:ln w="9525">
            <a:solidFill>
              <a:srgbClr val="FF9D4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796796" y="4704588"/>
            <a:ext cx="1138428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063240" y="4709160"/>
            <a:ext cx="2071116" cy="256032"/>
          </a:xfrm>
          <a:prstGeom prst="roundRect">
            <a:avLst>
              <a:gd name="adj" fmla="val 50000"/>
            </a:avLst>
          </a:prstGeom>
          <a:solidFill>
            <a:srgbClr val="4DD8E6">
              <a:alpha val="14000"/>
            </a:srgbClr>
          </a:solidFill>
          <a:ln w="9525">
            <a:solidFill>
              <a:srgbClr val="4DD8E6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063240" y="4704588"/>
            <a:ext cx="207111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release</a:t>
            </a:r>
            <a:endParaRPr lang="en-US" sz="950" dirty="0"/>
          </a:p>
        </p:txBody>
      </p:sp>
      <p:pic>
        <p:nvPicPr>
          <p:cNvPr id="14" name="Image 0" descr="images/fo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234440"/>
            <a:ext cx="4892040" cy="3038021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85800" y="6355080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 ·  Fatima Ezzahrae (lead), Fati, Manar, Haytam, Safa  ·  github.com/Ezzouzi-Fatima-Ezzahrae/DevForge_IBM_hackathon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6126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can write code fast.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Nobody proves it's ready.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2331720"/>
            <a:ext cx="5943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code generators produce code quickly, but nothing proves it works, nothing checks it is safe, and nobody decides who may release it. If you lead a small team shipping AI-written code, you still spend hours coordinating tests, debugging, security review and release by hand.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685800" y="4572000"/>
            <a:ext cx="5943600" cy="1234440"/>
          </a:xfrm>
          <a:prstGeom prst="roundRect">
            <a:avLst>
              <a:gd name="adj" fmla="val 7407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4736592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DevForge closes that gap: an orchestrator that plans, builds, tests, debugs and scans the code — with quality gates and a human at the release button.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086600" y="1051560"/>
            <a:ext cx="402336" cy="402336"/>
          </a:xfrm>
          <a:prstGeom prst="ellipse">
            <a:avLst/>
          </a:prstGeom>
          <a:solidFill>
            <a:srgbClr val="FF5470">
              <a:alpha val="16000"/>
            </a:srgbClr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086600" y="1051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53528" y="101498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it works</a:t>
            </a:r>
            <a:endParaRPr lang="en-US" sz="1450" dirty="0"/>
          </a:p>
        </p:txBody>
      </p:sp>
      <p:sp>
        <p:nvSpPr>
          <p:cNvPr id="10" name="Text 8"/>
          <p:cNvSpPr txBox="1"/>
          <p:nvPr/>
        </p:nvSpPr>
        <p:spPr>
          <a:xfrm>
            <a:off x="7653528" y="128930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runs the real test suite and reports honest pass/fail numbers.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7086600" y="2286000"/>
            <a:ext cx="402336" cy="402336"/>
          </a:xfrm>
          <a:prstGeom prst="ellipse">
            <a:avLst/>
          </a:prstGeom>
          <a:solidFill>
            <a:srgbClr val="FF5470">
              <a:alpha val="16000"/>
            </a:srgbClr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086600" y="22860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653528" y="224942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it's safe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7653528" y="252374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scans for vulnerabilities before code ships.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086600" y="3520440"/>
            <a:ext cx="402336" cy="402336"/>
          </a:xfrm>
          <a:prstGeom prst="ellipse">
            <a:avLst/>
          </a:prstGeom>
          <a:solidFill>
            <a:srgbClr val="FF5470">
              <a:alpha val="16000"/>
            </a:srgbClr>
          </a:solidFill>
          <a:ln w="12700">
            <a:solidFill>
              <a:srgbClr val="FF547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086600" y="3520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53528" y="3483864"/>
            <a:ext cx="3867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decides who ships it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653528" y="3758184"/>
            <a:ext cx="3867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AI-written code reaches release without a human checkpoint.</a:t>
            </a:r>
            <a:endParaRPr lang="en-US" sz="1150" dirty="0"/>
          </a:p>
        </p:txBody>
      </p:sp>
      <p:pic>
        <p:nvPicPr>
          <p:cNvPr id="19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IDEA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code generator. An orchestrator.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417320"/>
            <a:ext cx="10607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Specialized agents plan, build, test, debug and scan the code. Quality gates decide whether the project may move on. Failures loop back to the right agent — with retry limits — and only a human can release.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3784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3784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70408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93852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3042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63042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229666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3110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2300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22300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88924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12368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81558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81558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19" name="Text 17"/>
          <p:cNvSpPr txBox="1"/>
          <p:nvPr/>
        </p:nvSpPr>
        <p:spPr>
          <a:xfrm>
            <a:off x="548182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71626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40816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40816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707440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30884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074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00074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866698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9901428" y="2798064"/>
            <a:ext cx="358140" cy="0"/>
          </a:xfrm>
          <a:prstGeom prst="line">
            <a:avLst/>
          </a:prstGeom>
          <a:noFill/>
          <a:ln w="19050">
            <a:solidFill>
              <a:srgbClr val="FF7A1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593324" y="251460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0131B"/>
          </a:solidFill>
          <a:ln w="15875">
            <a:solidFill>
              <a:srgbClr val="FF7A1A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0593324" y="25146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700" dirty="0"/>
          </a:p>
        </p:txBody>
      </p:sp>
      <p:sp>
        <p:nvSpPr>
          <p:cNvPr id="31" name="Text 29"/>
          <p:cNvSpPr txBox="1"/>
          <p:nvPr/>
        </p:nvSpPr>
        <p:spPr>
          <a:xfrm>
            <a:off x="10259568" y="3154680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85800" y="361188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440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gate</a:t>
            </a:r>
            <a:endParaRPr lang="en-US" sz="1350" dirty="0"/>
          </a:p>
        </p:txBody>
      </p:sp>
      <p:sp>
        <p:nvSpPr>
          <p:cNvPr id="34" name="Text 32"/>
          <p:cNvSpPr txBox="1"/>
          <p:nvPr/>
        </p:nvSpPr>
        <p:spPr>
          <a:xfrm>
            <a:off x="914400" y="4096512"/>
            <a:ext cx="4754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Passes only at 100%. Any failure sends the project to the Debug agent, which patches the real file and reruns the suite.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14400" y="48920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5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gate</a:t>
            </a:r>
            <a:endParaRPr lang="en-US" sz="1350" dirty="0"/>
          </a:p>
        </p:txBody>
      </p:sp>
      <p:sp>
        <p:nvSpPr>
          <p:cNvPr id="36" name="Text 34"/>
          <p:cNvSpPr txBox="1"/>
          <p:nvPr/>
        </p:nvSpPr>
        <p:spPr>
          <a:xfrm>
            <a:off x="914400" y="51937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on any critical or high severity finding. The Fix agent patches the exact finding Security reports, then Security re-scans.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217920" y="3611880"/>
            <a:ext cx="5257800" cy="2331720"/>
          </a:xfrm>
          <a:prstGeom prst="roundRect">
            <a:avLst>
              <a:gd name="adj" fmla="val 3922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446520" y="37947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gate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6446520" y="409651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 human can approve. A timeout on the approval counts as a rejection — it never approves by accident.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644652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the security scan run in parallel, then merge into one decision — the same defect can be caught two independent ways.</a:t>
            </a:r>
            <a:endParaRPr lang="en-US" sz="1200" dirty="0"/>
          </a:p>
        </p:txBody>
      </p:sp>
      <p:pic>
        <p:nvPicPr>
          <p:cNvPr id="41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INSIDE A RUN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7772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7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idea. Two real bugs. Two loops. One release.</a:t>
            </a:r>
            <a:endParaRPr lang="en-US" sz="27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371600"/>
            <a:ext cx="10607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demo app plants two real problems in backend/demo_bug.py — an access-control bug and a hard-coded secret — and DevForge finds and resolves both.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2167128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216712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1214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11226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user stories, 3 architecture decisions — human approves the architecture.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41832" y="2496312"/>
            <a:ext cx="0" cy="384048"/>
          </a:xfrm>
          <a:prstGeom prst="line">
            <a:avLst/>
          </a:prstGeom>
          <a:noFill/>
          <a:ln w="19050">
            <a:solidFill>
              <a:srgbClr val="262C3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880360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28803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2834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+ parallel checks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3108960" y="2825496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run: 17/20 pass. In parallel, Security finds a HIGH access-control finding — release BLOCKED.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41832" y="3209544"/>
            <a:ext cx="0" cy="384048"/>
          </a:xfrm>
          <a:prstGeom prst="line">
            <a:avLst/>
          </a:prstGeom>
          <a:noFill/>
          <a:ln w="19050">
            <a:solidFill>
              <a:srgbClr val="262C3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593592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35935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252728" y="35478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3108960" y="3538728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Debug agent finds the root cause and patches the file: an ownership check. Tests: 20/20.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41832" y="3922776"/>
            <a:ext cx="0" cy="384048"/>
          </a:xfrm>
          <a:prstGeom prst="line">
            <a:avLst/>
          </a:prstGeom>
          <a:noFill/>
          <a:ln w="19050">
            <a:solidFill>
              <a:srgbClr val="262C3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4306824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77240" y="430682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52728" y="42611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108960" y="42519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Fix agent patches the exact finding Security reported — the hard-coded secret is moved to an environment variable.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1832" y="4636008"/>
            <a:ext cx="0" cy="384048"/>
          </a:xfrm>
          <a:prstGeom prst="line">
            <a:avLst/>
          </a:prstGeom>
          <a:noFill/>
          <a:ln w="19050">
            <a:solidFill>
              <a:srgbClr val="262C3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77240" y="5020056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7240" y="50200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1252728" y="497433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Re-scan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965192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20/20, Security PASS — both gates clear on the same code.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941832" y="5349240"/>
            <a:ext cx="0" cy="384048"/>
          </a:xfrm>
          <a:prstGeom prst="line">
            <a:avLst/>
          </a:prstGeom>
          <a:noFill/>
          <a:ln w="19050">
            <a:solidFill>
              <a:srgbClr val="262C3A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7240" y="5733288"/>
            <a:ext cx="329184" cy="329184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77240" y="57332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252728" y="56875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</a:t>
            </a:r>
            <a:endParaRPr lang="en-US" sz="1250" dirty="0"/>
          </a:p>
        </p:txBody>
      </p:sp>
      <p:sp>
        <p:nvSpPr>
          <p:cNvPr id="33" name="Text 31"/>
          <p:cNvSpPr txBox="1"/>
          <p:nvPr/>
        </p:nvSpPr>
        <p:spPr>
          <a:xfrm>
            <a:off x="3108960" y="5678424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human reviews all gate results and approves — the project is RELEASED.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52360" y="214884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589520" y="2258568"/>
            <a:ext cx="374904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→ 20/20</a:t>
            </a:r>
            <a:endParaRPr lang="en-US" sz="3000" dirty="0"/>
          </a:p>
        </p:txBody>
      </p:sp>
      <p:sp>
        <p:nvSpPr>
          <p:cNvPr id="36" name="Text 34"/>
          <p:cNvSpPr txBox="1"/>
          <p:nvPr/>
        </p:nvSpPr>
        <p:spPr>
          <a:xfrm>
            <a:off x="7543800" y="272491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BEFORE / AFTER FIX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452360" y="324612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589520" y="3355848"/>
            <a:ext cx="374904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 HIGH</a:t>
            </a:r>
            <a:endParaRPr lang="en-US" sz="3000" dirty="0"/>
          </a:p>
        </p:txBody>
      </p:sp>
      <p:sp>
        <p:nvSpPr>
          <p:cNvPr id="39" name="Text 37"/>
          <p:cNvSpPr txBox="1"/>
          <p:nvPr/>
        </p:nvSpPr>
        <p:spPr>
          <a:xfrm>
            <a:off x="7543800" y="382219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FINDING BLOCKED, THEN PATCHED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52360" y="4343400"/>
            <a:ext cx="4023360" cy="960120"/>
          </a:xfrm>
          <a:prstGeom prst="roundRect">
            <a:avLst>
              <a:gd name="adj" fmla="val 9524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589520" y="4453128"/>
            <a:ext cx="3749040" cy="55687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D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/ 2</a:t>
            </a:r>
            <a:endParaRPr lang="en-US" sz="3000" dirty="0"/>
          </a:p>
        </p:txBody>
      </p:sp>
      <p:sp>
        <p:nvSpPr>
          <p:cNvPr id="42" name="Text 40"/>
          <p:cNvSpPr txBox="1"/>
          <p:nvPr/>
        </p:nvSpPr>
        <p:spPr>
          <a:xfrm>
            <a:off x="7543800" y="4919472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USED / HUMAN APPROVALS</a:t>
            </a:r>
            <a:endParaRPr lang="en-US" sz="950" dirty="0"/>
          </a:p>
        </p:txBody>
      </p:sp>
      <p:pic>
        <p:nvPicPr>
          <p:cNvPr id="43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agent, labeled honestly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087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this deck or the dashboard overstates what runs. Here is exactly what is real, what replays a saved session, and what is still a stub.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084832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14400" y="2084832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Orchestrator &amp;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2219706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215134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663440" y="2084832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machine, gates, retries, parallel checks — all real code, all real runs.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85800" y="2688336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268833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agent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291840" y="2823210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291840" y="2818638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88336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the actual pytest suite and reports honest pass/fail counts.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85800" y="3291840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3291840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agent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291840" y="3426714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291840" y="3422142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4663440" y="3291840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root cause and patches the real file — verified by re-running tests.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685800" y="3895344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3895344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3291840" y="4030218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3291840" y="4025646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4663440" y="3895344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Bandit plus a custom AST authorization checker against the real code.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85800" y="4498848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14400" y="4498848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agent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291840" y="4633722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35D488">
              <a:alpha val="14000"/>
            </a:srgbClr>
          </a:solidFill>
          <a:ln w="9525">
            <a:solidFill>
              <a:srgbClr val="35D48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291840" y="4629150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4663440" y="4498848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Patches the exact finding Security reports (secret → env var, missing ownership check → 403).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85800" y="5102352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14400" y="5102352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91840" y="5237226"/>
            <a:ext cx="594360" cy="256032"/>
          </a:xfrm>
          <a:prstGeom prst="roundRect">
            <a:avLst>
              <a:gd name="adj" fmla="val 50000"/>
            </a:avLst>
          </a:prstGeom>
          <a:solidFill>
            <a:srgbClr val="4DD8E6">
              <a:alpha val="14000"/>
            </a:srgbClr>
          </a:solidFill>
          <a:ln w="9525">
            <a:solidFill>
              <a:srgbClr val="4DD8E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3291840" y="5232654"/>
            <a:ext cx="59436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DD8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4663440" y="5102352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a saved IBM Bob Plan session for the demo idea — no live model call.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5705856"/>
            <a:ext cx="10835640" cy="525780"/>
          </a:xfrm>
          <a:prstGeom prst="roundRect">
            <a:avLst>
              <a:gd name="adj" fmla="val 12174"/>
            </a:avLst>
          </a:prstGeom>
          <a:solidFill>
            <a:srgbClr val="161A24"/>
          </a:solidFill>
          <a:ln w="9525">
            <a:solidFill>
              <a:srgbClr val="262C3A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914400" y="5705856"/>
            <a:ext cx="22860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agent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3291840" y="5840730"/>
            <a:ext cx="438912" cy="256032"/>
          </a:xfrm>
          <a:prstGeom prst="roundRect">
            <a:avLst>
              <a:gd name="adj" fmla="val 50000"/>
            </a:avLst>
          </a:prstGeom>
          <a:solidFill>
            <a:srgbClr val="FFC94D">
              <a:alpha val="14000"/>
            </a:srgbClr>
          </a:solidFill>
          <a:ln w="9525">
            <a:solidFill>
              <a:srgbClr val="FFC94D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3291840" y="5836158"/>
            <a:ext cx="438912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STUB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4663440" y="5705856"/>
            <a:ext cx="667512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a fixed placeholder result — not yet a real code generator.</a:t>
            </a:r>
            <a:endParaRPr lang="en-US" sz="1150" dirty="0"/>
          </a:p>
        </p:txBody>
      </p:sp>
      <p:sp>
        <p:nvSpPr>
          <p:cNvPr id="40" name="Text 38"/>
          <p:cNvSpPr txBox="1"/>
          <p:nvPr/>
        </p:nvSpPr>
        <p:spPr>
          <a:xfrm>
            <a:off x="685800" y="63642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simulated run is ever presented as Bob's work.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· 1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Plan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0876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Bob's Plan mode shaped the two hardest design decisions before a line of the orchestrator was written.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377440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377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340864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state machine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615184"/>
            <a:ext cx="6016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used Bob's Plan mode to design the pipeline states, the gate rules and the retry/escalation logic that the whole orchestrator is built 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566160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566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529584"/>
            <a:ext cx="60167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Requirements, user stories &amp; decisions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803904"/>
            <a:ext cx="60167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 used Plan mode for the Plan agent itself: the user-story generation, architecture decision records, and the plan quality gate.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589520" y="2331720"/>
            <a:ext cx="3931920" cy="3108960"/>
          </a:xfrm>
          <a:prstGeom prst="roundRect">
            <a:avLst>
              <a:gd name="adj" fmla="val 2941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818120" y="2542032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 in the repo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818120" y="297180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955280" y="3081528"/>
            <a:ext cx="141732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300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36850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 TASK SCREENSHOTS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9646920" y="2971800"/>
            <a:ext cx="1691640" cy="1097280"/>
          </a:xfrm>
          <a:prstGeom prst="roundRect">
            <a:avLst>
              <a:gd name="adj" fmla="val 8333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784080" y="3081528"/>
            <a:ext cx="1417320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D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 / 5</a:t>
            </a:r>
            <a:endParaRPr lang="en-US" sz="3000" dirty="0"/>
          </a:p>
        </p:txBody>
      </p:sp>
      <p:sp>
        <p:nvSpPr>
          <p:cNvPr id="20" name="Text 18"/>
          <p:cNvSpPr txBox="1"/>
          <p:nvPr/>
        </p:nvSpPr>
        <p:spPr>
          <a:xfrm>
            <a:off x="9738360" y="3685032"/>
            <a:ext cx="1508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 WITH EVIDENCE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818120" y="4251960"/>
            <a:ext cx="3474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bob_sessions/ — one PNG plus a session note per teammate, named to the hackathon's convention.</a:t>
            </a:r>
            <a:endParaRPr lang="en-US" sz="1100" dirty="0"/>
          </a:p>
        </p:txBody>
      </p:sp>
      <p:pic>
        <p:nvPicPr>
          <p:cNvPr id="22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WITH IBM BOB · 2 OF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IBM Bob — Agent mode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08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mode wrote the code every teammate's agent was built against.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85800" y="2148840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52728" y="2112264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contracts &amp; first orchestrator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252728" y="2386584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Leader — a long task, tracked with Bob's task list, until the Bobcoin budget was reached.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3044952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30449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52728" y="3008376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 agents</a:t>
            </a:r>
            <a:endParaRPr lang="en-US" sz="1450" dirty="0"/>
          </a:p>
        </p:txBody>
      </p:sp>
      <p:sp>
        <p:nvSpPr>
          <p:cNvPr id="12" name="Text 10"/>
          <p:cNvSpPr txBox="1"/>
          <p:nvPr/>
        </p:nvSpPr>
        <p:spPr>
          <a:xfrm>
            <a:off x="1252728" y="3282696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 — the real pytest runner and the file-patching debugger.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85800" y="3941064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9410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252728" y="3904488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 &amp; metrics</a:t>
            </a:r>
            <a:endParaRPr lang="en-US" sz="1450" dirty="0"/>
          </a:p>
        </p:txBody>
      </p:sp>
      <p:sp>
        <p:nvSpPr>
          <p:cNvPr id="16" name="Text 14"/>
          <p:cNvSpPr txBox="1"/>
          <p:nvPr/>
        </p:nvSpPr>
        <p:spPr>
          <a:xfrm>
            <a:off x="1252728" y="4178808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 — the queryable memory that records every decision and gate result.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85800" y="4837176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4837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52728" y="4800600"/>
            <a:ext cx="6199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</a:t>
            </a:r>
            <a:endParaRPr lang="en-US" sz="145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5074920"/>
            <a:ext cx="61996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Haytam — the Bandit + AST authorization scanner.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772400" y="2148840"/>
            <a:ext cx="3749040" cy="3749040"/>
          </a:xfrm>
          <a:prstGeom prst="roundRect">
            <a:avLst>
              <a:gd name="adj" fmla="val 2439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001000" y="2359152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Bob hit its limit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8001000" y="2743200"/>
            <a:ext cx="3291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Bob's budget was reached on the orchestrator task, the team finished the remaining fixes, agent integration, the API, the tests and the demo with another AI assistant.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8001000" y="4114800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 also used Bob for code review on the memory APIs.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001000" y="475488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say this openly — honesty is one of our judging-criteria answers, not a footnote.</a:t>
            </a:r>
            <a:endParaRPr lang="en-US" sz="1150" dirty="0"/>
          </a:p>
        </p:txBody>
      </p:sp>
      <p:pic>
        <p:nvPicPr>
          <p:cNvPr id="26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pays, and why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5448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user is a team lead who ships AI-written code and still spends hours coordinating tests, debugging, security review and release by hand.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85800" y="26060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715768"/>
            <a:ext cx="25603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~36.5M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502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DEVELOPERS, WORLDWIDE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703320" y="2606040"/>
            <a:ext cx="2834640" cy="1280160"/>
          </a:xfrm>
          <a:prstGeom prst="roundRect">
            <a:avLst>
              <a:gd name="adj" fmla="val 7143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2715768"/>
            <a:ext cx="2560320" cy="74249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~$88M/yr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794760" y="3502152"/>
            <a:ext cx="2651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ILLUSTRATIVE: 1% × $20/SEAT/MO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023360"/>
            <a:ext cx="6035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i="1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revenue figure is an assumption for illustration, not a measurement — we say so on stage.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4617720"/>
            <a:ext cx="5852160" cy="1737360"/>
          </a:xfrm>
          <a:prstGeom prst="roundRect">
            <a:avLst>
              <a:gd name="adj" fmla="val 5263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773168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model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914400" y="507492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seats  ·  usage per pipeline run in CI  ·  a self-hosted enterprise plan.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949440" y="2651760"/>
            <a:ext cx="402336" cy="402336"/>
          </a:xfrm>
          <a:prstGeom prst="ellipse">
            <a:avLst/>
          </a:prstGeom>
          <a:solidFill>
            <a:srgbClr val="35D488">
              <a:alpha val="16000"/>
            </a:srgbClr>
          </a:solidFill>
          <a:ln w="12700">
            <a:solidFill>
              <a:srgbClr val="35D48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94944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516368" y="261518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manual effort &amp; rework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7516368" y="288950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repeated loop — test, diagnose, patch, re-test, re-scan — runs itself.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949440" y="3703320"/>
            <a:ext cx="402336" cy="402336"/>
          </a:xfrm>
          <a:prstGeom prst="ellipse">
            <a:avLst/>
          </a:prstGeom>
          <a:solidFill>
            <a:srgbClr val="35D488">
              <a:alpha val="16000"/>
            </a:srgbClr>
          </a:solidFill>
          <a:ln w="12700">
            <a:solidFill>
              <a:srgbClr val="35D48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9494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516368" y="366674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Fewer defects reach release</a:t>
            </a:r>
            <a:endParaRPr lang="en-US" sz="1450" dirty="0"/>
          </a:p>
        </p:txBody>
      </p:sp>
      <p:sp>
        <p:nvSpPr>
          <p:cNvPr id="22" name="Text 20"/>
          <p:cNvSpPr txBox="1"/>
          <p:nvPr/>
        </p:nvSpPr>
        <p:spPr>
          <a:xfrm>
            <a:off x="7516368" y="394106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flaw is caught two independent ways: by tests and by the scan.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949440" y="4754880"/>
            <a:ext cx="402336" cy="402336"/>
          </a:xfrm>
          <a:prstGeom prst="ellipse">
            <a:avLst/>
          </a:prstGeom>
          <a:solidFill>
            <a:srgbClr val="35D488">
              <a:alpha val="16000"/>
            </a:srgbClr>
          </a:solidFill>
          <a:ln w="12700">
            <a:solidFill>
              <a:srgbClr val="35D48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949440" y="47548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5D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516368" y="4718304"/>
            <a:ext cx="39136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 audit trail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7516368" y="4992624"/>
            <a:ext cx="3913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event, retry, finding and approval is logged for every run.</a:t>
            </a:r>
            <a:endParaRPr lang="en-US" sz="1150" dirty="0"/>
          </a:p>
        </p:txBody>
      </p:sp>
      <p:pic>
        <p:nvPicPr>
          <p:cNvPr id="27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8580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MEASURED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runs. Real numbers.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1508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real pipeline runs count — unit-test fixtures are excluded from these numbers.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2212848"/>
            <a:ext cx="233172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/ 3</a:t>
            </a:r>
            <a:endParaRPr lang="en-US" sz="30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29535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COMPLETED → RELEASED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566160" y="2212848"/>
            <a:ext cx="233172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C9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 → 20/20</a:t>
            </a:r>
            <a:endParaRPr lang="en-US" sz="3000" dirty="0"/>
          </a:p>
        </p:txBody>
      </p:sp>
      <p:sp>
        <p:nvSpPr>
          <p:cNvPr id="10" name="Text 8"/>
          <p:cNvSpPr txBox="1"/>
          <p:nvPr/>
        </p:nvSpPr>
        <p:spPr>
          <a:xfrm>
            <a:off x="3520440" y="29535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TESTS, BEFORE / AFTER THE REAL FIX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172200" y="2103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09360" y="2212848"/>
            <a:ext cx="233172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547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29535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FINDING, BLOCKED THEN PATCHED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915400" y="2103120"/>
            <a:ext cx="2606040" cy="1234440"/>
          </a:xfrm>
          <a:prstGeom prst="roundRect">
            <a:avLst>
              <a:gd name="adj" fmla="val 7407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052560" y="2212848"/>
            <a:ext cx="2331720" cy="715975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DD8E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&amp; 2</a:t>
            </a:r>
            <a:endParaRPr lang="en-US" sz="3000" dirty="0"/>
          </a:p>
        </p:txBody>
      </p:sp>
      <p:sp>
        <p:nvSpPr>
          <p:cNvPr id="16" name="Text 14"/>
          <p:cNvSpPr txBox="1"/>
          <p:nvPr/>
        </p:nvSpPr>
        <p:spPr>
          <a:xfrm>
            <a:off x="9006840" y="2953512"/>
            <a:ext cx="2423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RETRIES USED / HUMAN APPROVALS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49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85800" y="4160520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85800" y="41605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252728" y="4123944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orchestrator with gates and loops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1252728" y="4398264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code generator — failures route back to the agent that can fix them.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85800" y="4873752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85800" y="48737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252728" y="4837176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checks, one decision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1252728" y="5111496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and the security scan run at once and merge before the gate decides.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85800" y="5586984"/>
            <a:ext cx="402336" cy="402336"/>
          </a:xfrm>
          <a:prstGeom prst="ellipse">
            <a:avLst/>
          </a:prstGeom>
          <a:solidFill>
            <a:srgbClr val="FF7A1A">
              <a:alpha val="16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55869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7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252728" y="5550408"/>
            <a:ext cx="54681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Human-in-the-loop, safe by default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1252728" y="5824728"/>
            <a:ext cx="5468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approval timeout counts as a rejection — it never approves by accident.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086600" y="3749040"/>
            <a:ext cx="4434840" cy="2514600"/>
          </a:xfrm>
          <a:prstGeom prst="roundRect">
            <a:avLst>
              <a:gd name="adj" fmla="val 3636"/>
            </a:avLst>
          </a:prstGeom>
          <a:solidFill>
            <a:srgbClr val="161A24"/>
          </a:solidFill>
          <a:ln w="12700">
            <a:solidFill>
              <a:srgbClr val="262C3A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315200" y="3931920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 we don't hide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315200" y="4251960"/>
            <a:ext cx="3977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plan agent replays one saved plan; it isn't adaptive to every idea yet.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Three runs is a small sample, all on the same demo idea.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The Build agent is still a stub.</a:t>
            </a:r>
            <a:endParaRPr lang="en-US" sz="1150" dirty="0"/>
          </a:p>
        </p:txBody>
      </p:sp>
      <p:pic>
        <p:nvPicPr>
          <p:cNvPr id="33" name="Image 0" descr="images/fox.png">    </p:cNvPr>
          <p:cNvPicPr>
            <a:picLocks noChangeAspect="1"/>
          </p:cNvPicPr>
          <p:nvPr/>
        </p:nvPicPr>
        <p:blipFill>
          <a:blip r:embed="rId1">
            <a:alphaModFix amt="75000"/>
          </a:blip>
          <a:stretch>
            <a:fillRect/>
          </a:stretch>
        </p:blipFill>
        <p:spPr>
          <a:xfrm>
            <a:off x="11292840" y="6263640"/>
            <a:ext cx="475488" cy="29528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D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FF7A1A">
              <a:alpha val="8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8580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685800" y="82296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4F6F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people. One pipeline.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85800" y="1600200"/>
            <a:ext cx="384048" cy="384048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207008" y="157276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Fatima Ezzahrae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207008" y="181051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— orchestrator &amp; integration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313432"/>
            <a:ext cx="384048" cy="384048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</a:t>
            </a:r>
            <a:endParaRPr lang="en-US" sz="1500" dirty="0"/>
          </a:p>
        </p:txBody>
      </p:sp>
      <p:sp>
        <p:nvSpPr>
          <p:cNvPr id="11" name="Text 9"/>
          <p:cNvSpPr txBox="1"/>
          <p:nvPr/>
        </p:nvSpPr>
        <p:spPr>
          <a:xfrm>
            <a:off x="1207008" y="228600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207008" y="252374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agent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026664"/>
            <a:ext cx="384048" cy="384048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30266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1207008" y="299923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Manar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1207008" y="323697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&amp; Debug agents, backend API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85800" y="3739896"/>
            <a:ext cx="384048" cy="384048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37398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207008" y="371246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Haytam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1207008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agent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85800" y="4453128"/>
            <a:ext cx="384048" cy="384048"/>
          </a:xfrm>
          <a:prstGeom prst="ellipse">
            <a:avLst/>
          </a:prstGeom>
          <a:solidFill>
            <a:srgbClr val="FF7A1A">
              <a:alpha val="18000"/>
            </a:srgbClr>
          </a:solidFill>
          <a:ln w="12700">
            <a:solidFill>
              <a:srgbClr val="FF7A1A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44531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9D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1207008" y="442569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F6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Safa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1207008" y="46634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memory &amp; metrics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486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C9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685800" y="576072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8B93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dashboard with live approval  ·  AI-backed Builder &amp; Fix agents on the same contracts  ·  more gates  ·  a GitHub Action on every pull request.</a:t>
            </a:r>
            <a:endParaRPr lang="en-US" sz="1150" dirty="0"/>
          </a:p>
        </p:txBody>
      </p:sp>
      <p:pic>
        <p:nvPicPr>
          <p:cNvPr id="27" name="Image 0" descr="images/fox.png">    </p:cNvPr>
          <p:cNvPicPr>
            <a:picLocks noChangeAspect="1"/>
          </p:cNvPicPr>
          <p:nvPr/>
        </p:nvPicPr>
        <p:blipFill>
          <a:blip r:embed="rId1">
            <a:alphaModFix amt="94000"/>
          </a:blip>
          <a:stretch>
            <a:fillRect/>
          </a:stretch>
        </p:blipFill>
        <p:spPr>
          <a:xfrm>
            <a:off x="6949440" y="1417320"/>
            <a:ext cx="4480560" cy="2782487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400800" y="544068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250" i="1" dirty="0">
                <a:solidFill>
                  <a:srgbClr val="FF9D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has evidence. Every gate has a rule. Every release has a human.</a:t>
            </a:r>
            <a:endParaRPr lang="en-US" sz="1250" dirty="0"/>
          </a:p>
        </p:txBody>
      </p:sp>
      <p:sp>
        <p:nvSpPr>
          <p:cNvPr id="29" name="Text 26"/>
          <p:cNvSpPr txBox="1"/>
          <p:nvPr/>
        </p:nvSpPr>
        <p:spPr>
          <a:xfrm>
            <a:off x="6400800" y="580644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5C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github.com/Ezzouzi-Fatima-Ezzahrae/DevForge_IBM_hackathon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2026-09-27T12:18:50Z</dcterms:created>
  <dcterms:modified xsi:type="dcterms:W3CDTF">2026-09-27T12:18:50Z</dcterms:modified>
</cp:coreProperties>
</file>